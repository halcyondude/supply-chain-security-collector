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Repos</c:v>
                </c:pt>
              </c:strCache>
            </c:strRef>
          </c:tx>
          <c:spPr>
            <a:solidFill>
              <a:srgbClr val="0D9488"/>
            </a:solidFill>
            <a:effectLst/>
          </c:spPr>
          <c:invertIfNegative val="0"/>
          <c:dLbls>
            <c:numFmt formatCode="#,##0" sourceLinked="0"/>
            <c:txPr>
              <a:bodyPr/>
              <a:lstStyle/>
              <a:p>
                <a:pPr>
                  <a:defRPr b="0" i="0" strike="noStrike" sz="1100" u="none">
                    <a:solidFill>
                      <a:srgbClr val="0F172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CodeQL</c:v>
                  </c:pt>
                  <c:pt idx="1">
                    <c:v>Docker Scout</c:v>
                  </c:pt>
                  <c:pt idx="2">
                    <c:v>Trivy</c:v>
                  </c:pt>
                  <c:pt idx="3">
                    <c:v>SLSA Gen</c:v>
                  </c:pt>
                  <c:pt idx="4">
                    <c:v>Cosign</c:v>
                  </c:pt>
                </c:lvl>
              </c:multiLvlStrCache>
            </c:multiLvlStrRef>
          </c:cat>
          <c:val>
            <c:numRef>
              <c:f>Sheet1!$B$2:$B$6</c:f>
              <c:numCache>
                <c:formatCode>General</c:formatCode>
                <c:ptCount val="5"/>
                <c:pt idx="0">
                  <c:v>80</c:v>
                </c:pt>
                <c:pt idx="1">
                  <c:v>31</c:v>
                </c:pt>
                <c:pt idx="2">
                  <c:v>19</c:v>
                </c:pt>
                <c:pt idx="3">
                  <c:v>13</c:v>
                </c:pt>
                <c:pt idx="4">
                  <c:v>1</c:v>
                </c:pt>
              </c:numCache>
            </c:numRef>
          </c:val>
        </c:ser>
        <c:dLbls>
          <c:numFmt formatCode="#,##0" sourceLinked="0"/>
          <c:txPr>
            <a:bodyPr/>
            <a:lstStyle/>
            <a:p>
              <a:pPr>
                <a:defRPr b="0" i="0" strike="noStrike" sz="1100" u="none">
                  <a:solidFill>
                    <a:srgbClr val="0F17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F172A"/>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4A3B8"/>
                </a:solidFill>
                <a:latin typeface="Arial"/>
              </a:defRPr>
            </a:pPr>
            <a:endParaRPr lang="en-US"/>
          </a:p>
        </c:txPr>
        <c:crossAx val="2094734554"/>
        <c:crosses val="autoZero"/>
        <c:crossBetween val="between"/>
      </c:valAx>
      <c:spPr>
        <a:noFill/>
        <a:ln w="12700" cap="flat">
          <a:solidFill>
            <a:srgbClr val="363636"/>
          </a:solid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Graduated</c:v>
                </c:pt>
              </c:strCache>
            </c:strRef>
          </c:tx>
          <c:spPr>
            <a:solidFill>
              <a:srgbClr val="0F2B46"/>
            </a:solidFill>
            <a:effectLst/>
          </c:spPr>
          <c:invertIfNegative val="0"/>
          <c:dLbls>
            <c:numFmt formatCode="#,##0" sourceLinked="0"/>
            <c:txPr>
              <a:bodyPr/>
              <a:lstStyle/>
              <a:p>
                <a:pPr>
                  <a:defRPr b="0" i="0" strike="noStrike" sz="1000" u="none">
                    <a:solidFill>
                      <a:srgbClr val="0F17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SBOM Adoption</c:v>
                  </c:pt>
                  <c:pt idx="1">
                    <c:v>Signed Releases</c:v>
                  </c:pt>
                  <c:pt idx="2">
                    <c:v>Attestations</c:v>
                  </c:pt>
                </c:lvl>
              </c:multiLvlStrCache>
            </c:multiLvlStrRef>
          </c:cat>
          <c:val>
            <c:numRef>
              <c:f>Sheet1!$B$2:$B$4</c:f>
              <c:numCache>
                <c:formatCode>General</c:formatCode>
                <c:ptCount val="3"/>
                <c:pt idx="0">
                  <c:v>14.7</c:v>
                </c:pt>
                <c:pt idx="1">
                  <c:v>18.9</c:v>
                </c:pt>
                <c:pt idx="2">
                  <c:v>2.7</c:v>
                </c:pt>
              </c:numCache>
            </c:numRef>
          </c:val>
        </c:ser>
        <c:ser>
          <c:idx val="1"/>
          <c:order val="1"/>
          <c:tx>
            <c:strRef>
              <c:f>Sheet1!$C$1</c:f>
              <c:strCache>
                <c:ptCount val="1"/>
                <c:pt idx="0">
                  <c:v>Incubating</c:v>
                </c:pt>
              </c:strCache>
            </c:strRef>
          </c:tx>
          <c:spPr>
            <a:solidFill>
              <a:srgbClr val="0D9488"/>
            </a:solidFill>
            <a:effectLst/>
          </c:spPr>
          <c:invertIfNegative val="0"/>
          <c:dLbls>
            <c:numFmt formatCode="#,##0" sourceLinked="0"/>
            <c:txPr>
              <a:bodyPr/>
              <a:lstStyle/>
              <a:p>
                <a:pPr>
                  <a:defRPr b="0" i="0" strike="noStrike" sz="1000" u="none">
                    <a:solidFill>
                      <a:srgbClr val="0F172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SBOM Adoption</c:v>
                  </c:pt>
                  <c:pt idx="1">
                    <c:v>Signed Releases</c:v>
                  </c:pt>
                  <c:pt idx="2">
                    <c:v>Attestations</c:v>
                  </c:pt>
                </c:lvl>
              </c:multiLvlStrCache>
            </c:multiLvlStrRef>
          </c:cat>
          <c:val>
            <c:numRef>
              <c:f>Sheet1!$C$2:$C$4</c:f>
              <c:numCache>
                <c:formatCode>General</c:formatCode>
                <c:ptCount val="3"/>
                <c:pt idx="0">
                  <c:v>25.2</c:v>
                </c:pt>
                <c:pt idx="1">
                  <c:v>20.8</c:v>
                </c:pt>
                <c:pt idx="2">
                  <c:v>0</c:v>
                </c:pt>
              </c:numCache>
            </c:numRef>
          </c:val>
        </c:ser>
        <c:dLbls>
          <c:numFmt formatCode="#,##0" sourceLinked="0"/>
          <c:txPr>
            <a:bodyPr/>
            <a:lstStyle/>
            <a:p>
              <a:pPr>
                <a:defRPr b="0" i="0" strike="noStrike" sz="1000" u="none">
                  <a:solidFill>
                    <a:srgbClr val="0F172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Calibri"/>
              </a:defRPr>
            </a:pPr>
            <a:endParaRPr lang="en-US"/>
          </a:p>
        </c:txPr>
        <c:crossAx val="2094734552"/>
        <c:crosses val="autoZero"/>
        <c:auto val="1"/>
        <c:lblAlgn val="ctr"/>
        <c:noMultiLvlLbl val="1"/>
      </c:catAx>
      <c:valAx>
        <c:axId val="2094734552"/>
        <c:scaling>
          <c:orientation val="minMax"/>
          <c:max val="3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4A3B8"/>
                </a:solidFill>
                <a:latin typeface="Arial"/>
              </a:defRPr>
            </a:pPr>
            <a:endParaRPr lang="en-US"/>
          </a:p>
        </c:txPr>
        <c:crossAx val="2094734554"/>
        <c:crosses val="autoZero"/>
        <c:crossBetween val="between"/>
      </c:valAx>
      <c:spPr>
        <a:noFill/>
        <a:ln w="12700" cap="flat">
          <a:solidFill>
            <a:srgbClr val="363636"/>
          </a:solidFill>
        </a:ln>
        <a:effectLst/>
      </c:spPr>
    </c:plotArea>
    <c:legend>
      <c:legendPos val="b"/>
      <c:overlay val="0"/>
      <c:txPr>
        <a:bodyPr/>
        <a:lstStyle/>
        <a:p>
          <a:pPr>
            <a:defRPr sz="1000">
              <a:solidFill>
                <a:srgbClr val="475569"/>
              </a:solidFill>
              <a:latin typeface="Calibri"/>
              <a:cs typeface="Calibri"/>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"TAG Security published Supply Chain Best Practices v2. TOC Issue #1709 calls for ecosystem-wide measurement. Nobody has measured whether CNCF projects follow their own guidance. We built the measurement infrastructure. Here's what we found."
Key framing: This is measurement infrastructure, not a report card. Frame as "the tool answers a question nobody in the CNCF can answer today."
Timing: 30 seconds max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the numbers hard: "Only 16% of CNCF projects ship SBOMs. 15% sign releases. 2% produce attestations."
Let this sink in. Pause after showing the numbers.
Context: 236 projects, 4,169 releases, 39,304 release assets analyzed. This is the full CNCF landscape, not a sample.
Transition: "But the headline numbers hide something interesting. Let me show you two projects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"Helm signs everything but ships zero SBOMs. NATS ships hundreds of SBOMs but signs nothing. The ecosystem is doing half the job -- projects pick one practice or the other, not both."
Only 10 projects in the full landscape do BOTH SBOMs and signatures (show Slide 9 list later).
Transition: "So what tools is the ecosystem actually 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"CodeQL dominates at 34% -- 80 repos. Docker Scout at 13%. Trivy at 8%. But look at the gap: 89 projects scan their code, only 14 sign their releases."
Key insight: The ecosystem has converged on code scanning but not on release signing. The last mile -- getting artifacts signed and SBOMs into releases -- is where adoption drops off.
If asked: "Why is Cosign so low?" -- Cosign signs container images in registries, not GitHub release assets. Our collector sees GitHub releases. The actual cosign usage is likely higher but happens in OCI registries we don't inspect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surprised us. Incubating projects have 25% SBOM adoption vs 15% for graduated. Newer projects are building supply chain security in from the start."
Why: Newer projects are born in the post-EO-14028 era, post-Log4Shell, post-SolarWinds. They adopt practices from day one rather than retrofitting.
Implication for policy: If CNCF adds supply chain requirements to graduation, it won't just be aspirational -- the incubating cohort is already doing it.
Transition: "So where does all this data come from? Let me show you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starts with the CNCF landscape.yml -- the canonical list of all CNCF projects. We hit the GitHub GraphQL API for each repo: releases with all their assets, workflow YAML content, and Security Insights files."
"TypeScript normalizers pattern-match release asset filenames against known formats -- SPDX, CycloneDX, .sig, .asc, .bundle. Workflow YAML is scanned via full-text search for 20+ tool names."
"Everything lands in DuckDB with Parquet export. The SQL analysis models are staged: base tables, then aggregated tables, then executive summaries. The output is a DuckDB database anyone can query."
If asked about live demo: "I can open DuckDB right now and run any of these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transparent about what this measures and what it doesn't. We see GitHub release assets and workflow YAML. We don't see OCI registries or non-GitHub CI."
IMPORTANT: Proactively address the Kubernetes edge case here: "Kubernetes uses Prow, not GitHub Actions. Our tool correctly reports 0 workflows -- that's a measurement boundary, not a security gap."
"This is a leading indicator -- the presence of tools and artifacts. Not effectiveness. Not compliance."
This slide is critical for credibility. Say what you can't see before someone else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collector and GUAC are complementary. The collector answers WHO is producing supply chain metadata -- SBOMs, signatures, attestations. GUAC answers HOW that metadata connects across the dependency graph."
"Think of it this way: the collector is the census. GUAC is the network analysis. You need both."
Frame as complementary, not competing. GUAC is a CNCF sandbox project with a strong community. Position as a data source that feeds into GUAC's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10 projects do both -- SBOMs and signatures in their releases. Notice Flux is the only graduated project in this list. Most leaders are incubating or sandbox."
Highlight CloudNativePG and k0s as sandbox projects punching above their weight.
Point: "This is what good looks like. The tooling exists -- GoReleaser, SLSA Generator, Trivy. The question is whether we can make this the norm, not the exception."
Frame positively: lead with who's doing it right, not who's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paths. First: contribute the detection methodology and landscape assessment to TAG Security as a recurring work item. Proposal is ready."
"Second: extend CLOMonitor with behavioral checks -- does this project actually ship SBOMs? Design spec is drafted."
"Third: the dataset itself. Full landscape in Parquet format, available now. Anyone with DuckDB can query it."
Cite precedents: "DevStats started as a personal project and became official CNCF infrastructure. OpenSSF Scorecard defined the methodology first, then built the tool around it. We're following the same playbook."
Transition: "Which brings me to what we need from this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we need from this group."
"First: a sponsor. Someone in TAG Security willing to champion this as a formal work item. We'll do the engineering. We need the institutional home."
"Second: signal on scope. Should we run the full landscape every quarter -- all 236 projects? Or start with graduated projects only and expand? We want to match the CNCF's priorities, not impose our own."
This is the moment to be direct. Don't hedge. The ask is clear and bounded.
If someone volunteers: "Great. Let's schedule a follow-up this week to scope the first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during Q&amp;A so people can note the URLs.
Prepared answers for likely questions:
"Kubernetes shows 0 workflows -- is that a bug?" -&gt; "No, it's accurate. Kubernetes uses Prow, not GitHub Actions. Extending to Prow is on the roadmap."
"Why not just use Scorecard/CLOMonitor?" -&gt; "Complementary. Scorecard checks dev practices. CLOMonitor checks governance. We check whether supply chain artifacts actually exist in releases."
"How current is the data?" -&gt; "Point-in-time snapshot from this week. Designed to run on a schedule -- nightly/weekly via GitHub Actions."
"What about OCI registry signatures?" -&gt; "Known gap. Container registry analysis is the highest-priority next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46"/>
        </a:solidFill>
      </p:bgPr>
    </p:bg>
    <p:spTree>
      <p:nvGrpSpPr>
        <p:cNvPr id="1" name=""/>
        <p:cNvGrpSpPr/>
        <p:nvPr/>
      </p:nvGrpSpPr>
      <p:grpSpPr>
        <a:xfrm>
          <a:off x="0" y="0"/>
          <a:ext cx="0" cy="0"/>
          <a:chOff x="0" y="0"/>
          <a:chExt cx="0" cy="0"/>
        </a:xfrm>
      </p:grpSpPr>
      <p:sp>
        <p:nvSpPr>
          <p:cNvPr id="2" name="Shape 0"/>
          <p:cNvSpPr/>
          <p:nvPr/>
        </p:nvSpPr>
        <p:spPr>
          <a:xfrm>
            <a:off x="5943600" y="-914400"/>
            <a:ext cx="4572000" cy="4572000"/>
          </a:xfrm>
          <a:prstGeom prst="ellipse">
            <a:avLst/>
          </a:prstGeom>
          <a:solidFill>
            <a:srgbClr val="0D9488">
              <a:alpha val="10000"/>
            </a:srgbClr>
          </a:solidFill>
          <a:ln/>
        </p:spPr>
      </p:sp>
      <p:sp>
        <p:nvSpPr>
          <p:cNvPr id="3" name="Shape 1"/>
          <p:cNvSpPr/>
          <p:nvPr/>
        </p:nvSpPr>
        <p:spPr>
          <a:xfrm>
            <a:off x="6858000" y="1828800"/>
            <a:ext cx="3657600" cy="3657600"/>
          </a:xfrm>
          <a:prstGeom prst="ellipse">
            <a:avLst/>
          </a:prstGeom>
          <a:solidFill>
            <a:srgbClr val="14B8A6">
              <a:alpha val="8000"/>
            </a:srgbClr>
          </a:solidFill>
          <a:ln/>
        </p:spPr>
      </p:sp>
      <p:pic>
        <p:nvPicPr>
          <p:cNvPr id="4" name="Image 0" descr="preencoded.png">    </p:cNvPr>
          <p:cNvPicPr>
            <a:picLocks noChangeAspect="1"/>
          </p:cNvPicPr>
          <p:nvPr/>
        </p:nvPicPr>
        <p:blipFill>
          <a:blip r:embed="rId1"/>
          <a:stretch>
            <a:fillRect/>
          </a:stretch>
        </p:blipFill>
        <p:spPr>
          <a:xfrm>
            <a:off x="640080" y="731520"/>
            <a:ext cx="502920" cy="502920"/>
          </a:xfrm>
          <a:prstGeom prst="rect">
            <a:avLst/>
          </a:prstGeom>
        </p:spPr>
      </p:pic>
      <p:sp>
        <p:nvSpPr>
          <p:cNvPr id="5" name="Text 2"/>
          <p:cNvSpPr/>
          <p:nvPr/>
        </p:nvSpPr>
        <p:spPr>
          <a:xfrm>
            <a:off x="640080" y="1371600"/>
            <a:ext cx="6400800" cy="73152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CNCF Supply Chain Security</a:t>
            </a:r>
            <a:endParaRPr lang="en-US" sz="3600" dirty="0"/>
          </a:p>
        </p:txBody>
      </p:sp>
      <p:sp>
        <p:nvSpPr>
          <p:cNvPr id="6" name="Text 3"/>
          <p:cNvSpPr/>
          <p:nvPr/>
        </p:nvSpPr>
        <p:spPr>
          <a:xfrm>
            <a:off x="640080" y="2057400"/>
            <a:ext cx="6400800" cy="548640"/>
          </a:xfrm>
          <a:prstGeom prst="rect">
            <a:avLst/>
          </a:prstGeom>
          <a:noFill/>
          <a:ln/>
        </p:spPr>
        <p:txBody>
          <a:bodyPr wrap="square" lIns="0" tIns="0" rIns="0" bIns="0" rtlCol="0" anchor="ctr"/>
          <a:lstStyle/>
          <a:p>
            <a:pPr indent="0" marL="0">
              <a:buNone/>
            </a:pPr>
            <a:r>
              <a:rPr lang="en-US" sz="2800" dirty="0">
                <a:solidFill>
                  <a:srgbClr val="0D9488"/>
                </a:solidFill>
                <a:latin typeface="Trebuchet MS" pitchFamily="34" charset="0"/>
                <a:ea typeface="Trebuchet MS" pitchFamily="34" charset="-122"/>
                <a:cs typeface="Trebuchet MS" pitchFamily="34" charset="-120"/>
              </a:rPr>
              <a:t>What the Data Shows</a:t>
            </a:r>
            <a:endParaRPr lang="en-US" sz="2800" dirty="0"/>
          </a:p>
        </p:txBody>
      </p:sp>
      <p:sp>
        <p:nvSpPr>
          <p:cNvPr id="7" name="Shape 4"/>
          <p:cNvSpPr/>
          <p:nvPr/>
        </p:nvSpPr>
        <p:spPr>
          <a:xfrm>
            <a:off x="640080" y="2788920"/>
            <a:ext cx="2286000" cy="36576"/>
          </a:xfrm>
          <a:prstGeom prst="rect">
            <a:avLst/>
          </a:prstGeom>
          <a:solidFill>
            <a:srgbClr val="0D9488"/>
          </a:solidFill>
          <a:ln/>
        </p:spPr>
      </p:sp>
      <p:sp>
        <p:nvSpPr>
          <p:cNvPr id="8" name="Text 5"/>
          <p:cNvSpPr/>
          <p:nvPr/>
        </p:nvSpPr>
        <p:spPr>
          <a:xfrm>
            <a:off x="640080" y="3017520"/>
            <a:ext cx="6400800" cy="457200"/>
          </a:xfrm>
          <a:prstGeom prst="rect">
            <a:avLst/>
          </a:prstGeom>
          <a:noFill/>
          <a:ln/>
        </p:spPr>
        <p:txBody>
          <a:bodyPr wrap="square" rtlCol="0" anchor="ctr"/>
          <a:lstStyle/>
          <a:p>
            <a:pPr indent="0" marL="0">
              <a:buNone/>
            </a:pPr>
            <a:r>
              <a:rPr lang="en-US" sz="1400" dirty="0">
                <a:solidFill>
                  <a:srgbClr val="E2E8F0"/>
                </a:solidFill>
                <a:latin typeface="Calibri" pitchFamily="34" charset="0"/>
                <a:ea typeface="Calibri" pitchFamily="34" charset="-122"/>
                <a:cs typeface="Calibri" pitchFamily="34" charset="-120"/>
              </a:rPr>
              <a:t>236 projects  |  39,000 release assets  |  Here's what we found.</a:t>
            </a:r>
            <a:endParaRPr lang="en-US" sz="1400" dirty="0"/>
          </a:p>
        </p:txBody>
      </p:sp>
      <p:sp>
        <p:nvSpPr>
          <p:cNvPr id="9" name="Text 6"/>
          <p:cNvSpPr/>
          <p:nvPr/>
        </p:nvSpPr>
        <p:spPr>
          <a:xfrm>
            <a:off x="640080" y="4114800"/>
            <a:ext cx="6400800" cy="36576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Matt Young  |  TAG Security &amp; CNCF TOC  |  March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65760"/>
            <a:ext cx="7315200" cy="457200"/>
          </a:xfrm>
          <a:prstGeom prst="rect">
            <a:avLst/>
          </a:prstGeom>
          <a:noFill/>
          <a:ln/>
        </p:spPr>
        <p:txBody>
          <a:bodyPr wrap="square" rtlCol="0" anchor="ctr"/>
          <a:lstStyle/>
          <a:p>
            <a:pPr indent="0" marL="0">
              <a:buNone/>
            </a:pPr>
            <a:r>
              <a:rPr lang="en-US" sz="1200" b="1" spc="300" kern="0" dirty="0">
                <a:solidFill>
                  <a:srgbClr val="0D9488"/>
                </a:solidFill>
                <a:latin typeface="Calibri" pitchFamily="34" charset="0"/>
                <a:ea typeface="Calibri" pitchFamily="34" charset="-122"/>
                <a:cs typeface="Calibri" pitchFamily="34" charset="-120"/>
              </a:rPr>
              <a:t>The Question</a:t>
            </a:r>
            <a:endParaRPr lang="en-US" sz="1200" dirty="0"/>
          </a:p>
        </p:txBody>
      </p:sp>
      <p:sp>
        <p:nvSpPr>
          <p:cNvPr id="3" name="Text 1"/>
          <p:cNvSpPr/>
          <p:nvPr/>
        </p:nvSpPr>
        <p:spPr>
          <a:xfrm>
            <a:off x="640080" y="777240"/>
            <a:ext cx="7772400" cy="822960"/>
          </a:xfrm>
          <a:prstGeom prst="rect">
            <a:avLst/>
          </a:prstGeom>
          <a:noFill/>
          <a:ln/>
        </p:spPr>
        <p:txBody>
          <a:bodyPr wrap="square" lIns="0" tIns="0" rIns="0" bIns="0" rtlCol="0" anchor="ctr"/>
          <a:lstStyle/>
          <a:p>
            <a:pPr indent="0" marL="0">
              <a:buNone/>
            </a:pPr>
            <a:r>
              <a:rPr lang="en-US" sz="2200" b="1" dirty="0">
                <a:solidFill>
                  <a:srgbClr val="0F172A"/>
                </a:solidFill>
                <a:latin typeface="Trebuchet MS" pitchFamily="34" charset="0"/>
                <a:ea typeface="Trebuchet MS" pitchFamily="34" charset="-122"/>
                <a:cs typeface="Trebuchet MS" pitchFamily="34" charset="-120"/>
              </a:rPr>
              <a:t>What percentage of CNCF projects actually ship</a:t>
            </a:r>
            <a:endParaRPr lang="en-US" sz="2200" dirty="0"/>
          </a:p>
          <a:p>
            <a:pPr indent="0" marL="0">
              <a:buNone/>
            </a:pPr>
            <a:r>
              <a:rPr lang="en-US" sz="2200" b="1" dirty="0">
                <a:solidFill>
                  <a:srgbClr val="0F172A"/>
                </a:solidFill>
                <a:latin typeface="Trebuchet MS" pitchFamily="34" charset="0"/>
                <a:ea typeface="Trebuchet MS" pitchFamily="34" charset="-122"/>
                <a:cs typeface="Trebuchet MS" pitchFamily="34" charset="-120"/>
              </a:rPr>
              <a:t>SBOMs and sign their releases?</a:t>
            </a:r>
            <a:endParaRPr lang="en-US" sz="2200" dirty="0"/>
          </a:p>
        </p:txBody>
      </p:sp>
      <p:sp>
        <p:nvSpPr>
          <p:cNvPr id="4" name="Shape 2"/>
          <p:cNvSpPr/>
          <p:nvPr/>
        </p:nvSpPr>
        <p:spPr>
          <a:xfrm>
            <a:off x="640080" y="1828800"/>
            <a:ext cx="2377440" cy="18288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5" name="Shape 3"/>
          <p:cNvSpPr/>
          <p:nvPr/>
        </p:nvSpPr>
        <p:spPr>
          <a:xfrm>
            <a:off x="640080" y="1828800"/>
            <a:ext cx="2377440" cy="54864"/>
          </a:xfrm>
          <a:prstGeom prst="rect">
            <a:avLst/>
          </a:prstGeom>
          <a:solidFill>
            <a:srgbClr val="F59E0B"/>
          </a:solidFill>
          <a:ln/>
        </p:spPr>
      </p:sp>
      <p:sp>
        <p:nvSpPr>
          <p:cNvPr id="6" name="Text 4"/>
          <p:cNvSpPr/>
          <p:nvPr/>
        </p:nvSpPr>
        <p:spPr>
          <a:xfrm>
            <a:off x="640080" y="2103120"/>
            <a:ext cx="2377440" cy="914400"/>
          </a:xfrm>
          <a:prstGeom prst="rect">
            <a:avLst/>
          </a:prstGeom>
          <a:noFill/>
          <a:ln/>
        </p:spPr>
        <p:txBody>
          <a:bodyPr wrap="square" rtlCol="0" anchor="ctr"/>
          <a:lstStyle/>
          <a:p>
            <a:pPr algn="ctr" indent="0" marL="0">
              <a:buNone/>
            </a:pPr>
            <a:r>
              <a:rPr lang="en-US" sz="5400" b="1" dirty="0">
                <a:solidFill>
                  <a:srgbClr val="0F2B46"/>
                </a:solidFill>
                <a:latin typeface="Trebuchet MS" pitchFamily="34" charset="0"/>
                <a:ea typeface="Trebuchet MS" pitchFamily="34" charset="-122"/>
                <a:cs typeface="Trebuchet MS" pitchFamily="34" charset="-120"/>
              </a:rPr>
              <a:t>16%</a:t>
            </a:r>
            <a:endParaRPr lang="en-US" sz="5400" dirty="0"/>
          </a:p>
        </p:txBody>
      </p:sp>
      <p:sp>
        <p:nvSpPr>
          <p:cNvPr id="7" name="Text 5"/>
          <p:cNvSpPr/>
          <p:nvPr/>
        </p:nvSpPr>
        <p:spPr>
          <a:xfrm>
            <a:off x="640080" y="3063240"/>
            <a:ext cx="2377440" cy="365760"/>
          </a:xfrm>
          <a:prstGeom prst="rect">
            <a:avLst/>
          </a:prstGeom>
          <a:noFill/>
          <a:ln/>
        </p:spPr>
        <p:txBody>
          <a:bodyPr wrap="square" rtlCol="0" anchor="ctr"/>
          <a:lstStyle/>
          <a:p>
            <a:pPr algn="ctr" indent="0" marL="0">
              <a:buNone/>
            </a:pPr>
            <a:r>
              <a:rPr lang="en-US" sz="1400" dirty="0">
                <a:solidFill>
                  <a:srgbClr val="475569"/>
                </a:solidFill>
                <a:latin typeface="Calibri" pitchFamily="34" charset="0"/>
                <a:ea typeface="Calibri" pitchFamily="34" charset="-122"/>
                <a:cs typeface="Calibri" pitchFamily="34" charset="-120"/>
              </a:rPr>
              <a:t>Ship SBOMs</a:t>
            </a:r>
            <a:endParaRPr lang="en-US" sz="1400" dirty="0"/>
          </a:p>
        </p:txBody>
      </p:sp>
      <p:sp>
        <p:nvSpPr>
          <p:cNvPr id="8" name="Shape 6"/>
          <p:cNvSpPr/>
          <p:nvPr/>
        </p:nvSpPr>
        <p:spPr>
          <a:xfrm>
            <a:off x="3337560" y="1828800"/>
            <a:ext cx="2377440" cy="18288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9" name="Shape 7"/>
          <p:cNvSpPr/>
          <p:nvPr/>
        </p:nvSpPr>
        <p:spPr>
          <a:xfrm>
            <a:off x="3337560" y="1828800"/>
            <a:ext cx="2377440" cy="54864"/>
          </a:xfrm>
          <a:prstGeom prst="rect">
            <a:avLst/>
          </a:prstGeom>
          <a:solidFill>
            <a:srgbClr val="EF4444"/>
          </a:solidFill>
          <a:ln/>
        </p:spPr>
      </p:sp>
      <p:sp>
        <p:nvSpPr>
          <p:cNvPr id="10" name="Text 8"/>
          <p:cNvSpPr/>
          <p:nvPr/>
        </p:nvSpPr>
        <p:spPr>
          <a:xfrm>
            <a:off x="3337560" y="2103120"/>
            <a:ext cx="2377440" cy="914400"/>
          </a:xfrm>
          <a:prstGeom prst="rect">
            <a:avLst/>
          </a:prstGeom>
          <a:noFill/>
          <a:ln/>
        </p:spPr>
        <p:txBody>
          <a:bodyPr wrap="square" rtlCol="0" anchor="ctr"/>
          <a:lstStyle/>
          <a:p>
            <a:pPr algn="ctr" indent="0" marL="0">
              <a:buNone/>
            </a:pPr>
            <a:r>
              <a:rPr lang="en-US" sz="5400" b="1" dirty="0">
                <a:solidFill>
                  <a:srgbClr val="0F2B46"/>
                </a:solidFill>
                <a:latin typeface="Trebuchet MS" pitchFamily="34" charset="0"/>
                <a:ea typeface="Trebuchet MS" pitchFamily="34" charset="-122"/>
                <a:cs typeface="Trebuchet MS" pitchFamily="34" charset="-120"/>
              </a:rPr>
              <a:t>15%</a:t>
            </a:r>
            <a:endParaRPr lang="en-US" sz="5400" dirty="0"/>
          </a:p>
        </p:txBody>
      </p:sp>
      <p:sp>
        <p:nvSpPr>
          <p:cNvPr id="11" name="Text 9"/>
          <p:cNvSpPr/>
          <p:nvPr/>
        </p:nvSpPr>
        <p:spPr>
          <a:xfrm>
            <a:off x="3337560" y="3063240"/>
            <a:ext cx="2377440" cy="365760"/>
          </a:xfrm>
          <a:prstGeom prst="rect">
            <a:avLst/>
          </a:prstGeom>
          <a:noFill/>
          <a:ln/>
        </p:spPr>
        <p:txBody>
          <a:bodyPr wrap="square" rtlCol="0" anchor="ctr"/>
          <a:lstStyle/>
          <a:p>
            <a:pPr algn="ctr" indent="0" marL="0">
              <a:buNone/>
            </a:pPr>
            <a:r>
              <a:rPr lang="en-US" sz="1400" dirty="0">
                <a:solidFill>
                  <a:srgbClr val="475569"/>
                </a:solidFill>
                <a:latin typeface="Calibri" pitchFamily="34" charset="0"/>
                <a:ea typeface="Calibri" pitchFamily="34" charset="-122"/>
                <a:cs typeface="Calibri" pitchFamily="34" charset="-120"/>
              </a:rPr>
              <a:t>Sign Releases</a:t>
            </a:r>
            <a:endParaRPr lang="en-US" sz="1400" dirty="0"/>
          </a:p>
        </p:txBody>
      </p:sp>
      <p:sp>
        <p:nvSpPr>
          <p:cNvPr id="12" name="Shape 10"/>
          <p:cNvSpPr/>
          <p:nvPr/>
        </p:nvSpPr>
        <p:spPr>
          <a:xfrm>
            <a:off x="6035040" y="1828800"/>
            <a:ext cx="2377440" cy="18288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3" name="Shape 11"/>
          <p:cNvSpPr/>
          <p:nvPr/>
        </p:nvSpPr>
        <p:spPr>
          <a:xfrm>
            <a:off x="6035040" y="1828800"/>
            <a:ext cx="2377440" cy="54864"/>
          </a:xfrm>
          <a:prstGeom prst="rect">
            <a:avLst/>
          </a:prstGeom>
          <a:solidFill>
            <a:srgbClr val="EF4444"/>
          </a:solidFill>
          <a:ln/>
        </p:spPr>
      </p:sp>
      <p:sp>
        <p:nvSpPr>
          <p:cNvPr id="14" name="Text 12"/>
          <p:cNvSpPr/>
          <p:nvPr/>
        </p:nvSpPr>
        <p:spPr>
          <a:xfrm>
            <a:off x="6035040" y="2103120"/>
            <a:ext cx="2377440" cy="914400"/>
          </a:xfrm>
          <a:prstGeom prst="rect">
            <a:avLst/>
          </a:prstGeom>
          <a:noFill/>
          <a:ln/>
        </p:spPr>
        <p:txBody>
          <a:bodyPr wrap="square" rtlCol="0" anchor="ctr"/>
          <a:lstStyle/>
          <a:p>
            <a:pPr algn="ctr" indent="0" marL="0">
              <a:buNone/>
            </a:pPr>
            <a:r>
              <a:rPr lang="en-US" sz="5400" b="1" dirty="0">
                <a:solidFill>
                  <a:srgbClr val="0F2B46"/>
                </a:solidFill>
                <a:latin typeface="Trebuchet MS" pitchFamily="34" charset="0"/>
                <a:ea typeface="Trebuchet MS" pitchFamily="34" charset="-122"/>
                <a:cs typeface="Trebuchet MS" pitchFamily="34" charset="-120"/>
              </a:rPr>
              <a:t>2%</a:t>
            </a:r>
            <a:endParaRPr lang="en-US" sz="5400" dirty="0"/>
          </a:p>
        </p:txBody>
      </p:sp>
      <p:sp>
        <p:nvSpPr>
          <p:cNvPr id="15" name="Text 13"/>
          <p:cNvSpPr/>
          <p:nvPr/>
        </p:nvSpPr>
        <p:spPr>
          <a:xfrm>
            <a:off x="6035040" y="3063240"/>
            <a:ext cx="2377440" cy="365760"/>
          </a:xfrm>
          <a:prstGeom prst="rect">
            <a:avLst/>
          </a:prstGeom>
          <a:noFill/>
          <a:ln/>
        </p:spPr>
        <p:txBody>
          <a:bodyPr wrap="square" rtlCol="0" anchor="ctr"/>
          <a:lstStyle/>
          <a:p>
            <a:pPr algn="ctr" indent="0" marL="0">
              <a:buNone/>
            </a:pPr>
            <a:r>
              <a:rPr lang="en-US" sz="1400" dirty="0">
                <a:solidFill>
                  <a:srgbClr val="475569"/>
                </a:solidFill>
                <a:latin typeface="Calibri" pitchFamily="34" charset="0"/>
                <a:ea typeface="Calibri" pitchFamily="34" charset="-122"/>
                <a:cs typeface="Calibri" pitchFamily="34" charset="-120"/>
              </a:rPr>
              <a:t>Attestations</a:t>
            </a:r>
            <a:endParaRPr lang="en-US" sz="1400" dirty="0"/>
          </a:p>
        </p:txBody>
      </p:sp>
      <p:sp>
        <p:nvSpPr>
          <p:cNvPr id="16" name="Text 14"/>
          <p:cNvSpPr/>
          <p:nvPr/>
        </p:nvSpPr>
        <p:spPr>
          <a:xfrm>
            <a:off x="640080" y="4023360"/>
            <a:ext cx="7772400" cy="365760"/>
          </a:xfrm>
          <a:prstGeom prst="rect">
            <a:avLst/>
          </a:prstGeom>
          <a:noFill/>
          <a:ln/>
        </p:spPr>
        <p:txBody>
          <a:bodyPr wrap="square"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Across 236 CNCF projects, 4,169 releases, and 39,304 release assets</a:t>
            </a:r>
            <a:endParaRPr lang="en-US" sz="1100" dirty="0"/>
          </a:p>
        </p:txBody>
      </p:sp>
      <p:sp>
        <p:nvSpPr>
          <p:cNvPr id="17" name="Shape 15"/>
          <p:cNvSpPr/>
          <p:nvPr/>
        </p:nvSpPr>
        <p:spPr>
          <a:xfrm>
            <a:off x="0" y="4892040"/>
            <a:ext cx="9144000" cy="251460"/>
          </a:xfrm>
          <a:prstGeom prst="rect">
            <a:avLst/>
          </a:prstGeom>
          <a:solidFill>
            <a:srgbClr val="0F2B46"/>
          </a:solidFill>
          <a:ln/>
        </p:spPr>
      </p:sp>
      <p:sp>
        <p:nvSpPr>
          <p:cNvPr id="18" name="Text 16"/>
          <p:cNvSpPr/>
          <p:nvPr/>
        </p:nvSpPr>
        <p:spPr>
          <a:xfrm>
            <a:off x="457200" y="4892040"/>
            <a:ext cx="8229600" cy="25146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CNCF Supply Chain Security Analysis  |  March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65760"/>
            <a:ext cx="7772400" cy="50292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The Ecosystem Is Doing Half the Job</a:t>
            </a:r>
            <a:endParaRPr lang="en-US" sz="2400" dirty="0"/>
          </a:p>
        </p:txBody>
      </p:sp>
      <p:sp>
        <p:nvSpPr>
          <p:cNvPr id="3" name="Shape 1"/>
          <p:cNvSpPr/>
          <p:nvPr/>
        </p:nvSpPr>
        <p:spPr>
          <a:xfrm>
            <a:off x="640080" y="1097280"/>
            <a:ext cx="3657600" cy="29260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 name="Shape 2"/>
          <p:cNvSpPr/>
          <p:nvPr/>
        </p:nvSpPr>
        <p:spPr>
          <a:xfrm>
            <a:off x="640080" y="1097280"/>
            <a:ext cx="3657600" cy="54864"/>
          </a:xfrm>
          <a:prstGeom prst="rect">
            <a:avLst/>
          </a:prstGeom>
          <a:solidFill>
            <a:srgbClr val="0D9488"/>
          </a:solidFill>
          <a:ln/>
        </p:spPr>
      </p:sp>
      <p:sp>
        <p:nvSpPr>
          <p:cNvPr id="5" name="Text 3"/>
          <p:cNvSpPr/>
          <p:nvPr/>
        </p:nvSpPr>
        <p:spPr>
          <a:xfrm>
            <a:off x="914400" y="1280160"/>
            <a:ext cx="3108960" cy="411480"/>
          </a:xfrm>
          <a:prstGeom prst="rect">
            <a:avLst/>
          </a:prstGeom>
          <a:noFill/>
          <a:ln/>
        </p:spPr>
        <p:txBody>
          <a:bodyPr wrap="square" lIns="0" tIns="0" rIns="0" bIns="0" rtlCol="0" anchor="ctr"/>
          <a:lstStyle/>
          <a:p>
            <a:pPr indent="0" marL="0">
              <a:buNone/>
            </a:pPr>
            <a:r>
              <a:rPr lang="en-US" sz="2000" b="1" dirty="0">
                <a:solidFill>
                  <a:srgbClr val="0F2B46"/>
                </a:solidFill>
                <a:latin typeface="Trebuchet MS" pitchFamily="34" charset="0"/>
                <a:ea typeface="Trebuchet MS" pitchFamily="34" charset="-122"/>
                <a:cs typeface="Trebuchet MS" pitchFamily="34" charset="-120"/>
              </a:rPr>
              <a:t>Helm</a:t>
            </a:r>
            <a:endParaRPr lang="en-US" sz="2000" dirty="0"/>
          </a:p>
        </p:txBody>
      </p:sp>
      <p:sp>
        <p:nvSpPr>
          <p:cNvPr id="6" name="Text 4"/>
          <p:cNvSpPr/>
          <p:nvPr/>
        </p:nvSpPr>
        <p:spPr>
          <a:xfrm>
            <a:off x="914400" y="1645920"/>
            <a:ext cx="310896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Graduated</a:t>
            </a:r>
            <a:endParaRPr lang="en-US" sz="1100" dirty="0"/>
          </a:p>
        </p:txBody>
      </p:sp>
      <p:sp>
        <p:nvSpPr>
          <p:cNvPr id="7" name="Text 5"/>
          <p:cNvSpPr/>
          <p:nvPr/>
        </p:nvSpPr>
        <p:spPr>
          <a:xfrm>
            <a:off x="640080" y="2011680"/>
            <a:ext cx="3657600" cy="731520"/>
          </a:xfrm>
          <a:prstGeom prst="rect">
            <a:avLst/>
          </a:prstGeom>
          <a:noFill/>
          <a:ln/>
        </p:spPr>
        <p:txBody>
          <a:bodyPr wrap="square" rtlCol="0" anchor="ctr"/>
          <a:lstStyle/>
          <a:p>
            <a:pPr algn="ctr" indent="0" marL="0">
              <a:buNone/>
            </a:pPr>
            <a:r>
              <a:rPr lang="en-US" sz="4400" b="1" dirty="0">
                <a:solidFill>
                  <a:srgbClr val="22C55E"/>
                </a:solidFill>
                <a:latin typeface="Trebuchet MS" pitchFamily="34" charset="0"/>
                <a:ea typeface="Trebuchet MS" pitchFamily="34" charset="-122"/>
                <a:cs typeface="Trebuchet MS" pitchFamily="34" charset="-120"/>
              </a:rPr>
              <a:t>684</a:t>
            </a:r>
            <a:endParaRPr lang="en-US" sz="4400" dirty="0"/>
          </a:p>
        </p:txBody>
      </p:sp>
      <p:sp>
        <p:nvSpPr>
          <p:cNvPr id="8" name="Text 6"/>
          <p:cNvSpPr/>
          <p:nvPr/>
        </p:nvSpPr>
        <p:spPr>
          <a:xfrm>
            <a:off x="640080" y="2651760"/>
            <a:ext cx="3657600" cy="274320"/>
          </a:xfrm>
          <a:prstGeom prst="rect">
            <a:avLst/>
          </a:prstGeom>
          <a:noFill/>
          <a:ln/>
        </p:spPr>
        <p:txBody>
          <a:bodyPr wrap="square"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Signatures</a:t>
            </a:r>
            <a:endParaRPr lang="en-US" sz="1300" dirty="0"/>
          </a:p>
        </p:txBody>
      </p:sp>
      <p:sp>
        <p:nvSpPr>
          <p:cNvPr id="9" name="Shape 7"/>
          <p:cNvSpPr/>
          <p:nvPr/>
        </p:nvSpPr>
        <p:spPr>
          <a:xfrm>
            <a:off x="1097280" y="3063240"/>
            <a:ext cx="2743200" cy="9144"/>
          </a:xfrm>
          <a:prstGeom prst="rect">
            <a:avLst/>
          </a:prstGeom>
          <a:solidFill>
            <a:srgbClr val="CBD5E1"/>
          </a:solidFill>
          <a:ln/>
        </p:spPr>
      </p:sp>
      <p:sp>
        <p:nvSpPr>
          <p:cNvPr id="10" name="Text 8"/>
          <p:cNvSpPr/>
          <p:nvPr/>
        </p:nvSpPr>
        <p:spPr>
          <a:xfrm>
            <a:off x="640080" y="3200400"/>
            <a:ext cx="3657600" cy="365760"/>
          </a:xfrm>
          <a:prstGeom prst="rect">
            <a:avLst/>
          </a:prstGeom>
          <a:noFill/>
          <a:ln/>
        </p:spPr>
        <p:txBody>
          <a:bodyPr wrap="square" rtlCol="0" anchor="ctr"/>
          <a:lstStyle/>
          <a:p>
            <a:pPr algn="ctr" indent="0" marL="0">
              <a:buNone/>
            </a:pPr>
            <a:r>
              <a:rPr lang="en-US" sz="1800" b="1" dirty="0">
                <a:solidFill>
                  <a:srgbClr val="EF4444"/>
                </a:solidFill>
                <a:latin typeface="Trebuchet MS" pitchFamily="34" charset="0"/>
                <a:ea typeface="Trebuchet MS" pitchFamily="34" charset="-122"/>
                <a:cs typeface="Trebuchet MS" pitchFamily="34" charset="-120"/>
              </a:rPr>
              <a:t>0 SBOMs</a:t>
            </a:r>
            <a:endParaRPr lang="en-US" sz="1800" dirty="0"/>
          </a:p>
        </p:txBody>
      </p:sp>
      <p:sp>
        <p:nvSpPr>
          <p:cNvPr id="11" name="Shape 9"/>
          <p:cNvSpPr/>
          <p:nvPr/>
        </p:nvSpPr>
        <p:spPr>
          <a:xfrm>
            <a:off x="4846320" y="1097280"/>
            <a:ext cx="3657600" cy="292608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2" name="Shape 10"/>
          <p:cNvSpPr/>
          <p:nvPr/>
        </p:nvSpPr>
        <p:spPr>
          <a:xfrm>
            <a:off x="4846320" y="1097280"/>
            <a:ext cx="3657600" cy="54864"/>
          </a:xfrm>
          <a:prstGeom prst="rect">
            <a:avLst/>
          </a:prstGeom>
          <a:solidFill>
            <a:srgbClr val="F59E0B"/>
          </a:solidFill>
          <a:ln/>
        </p:spPr>
      </p:sp>
      <p:sp>
        <p:nvSpPr>
          <p:cNvPr id="13" name="Text 11"/>
          <p:cNvSpPr/>
          <p:nvPr/>
        </p:nvSpPr>
        <p:spPr>
          <a:xfrm>
            <a:off x="5120640" y="1280160"/>
            <a:ext cx="3108960" cy="411480"/>
          </a:xfrm>
          <a:prstGeom prst="rect">
            <a:avLst/>
          </a:prstGeom>
          <a:noFill/>
          <a:ln/>
        </p:spPr>
        <p:txBody>
          <a:bodyPr wrap="square" lIns="0" tIns="0" rIns="0" bIns="0" rtlCol="0" anchor="ctr"/>
          <a:lstStyle/>
          <a:p>
            <a:pPr indent="0" marL="0">
              <a:buNone/>
            </a:pPr>
            <a:r>
              <a:rPr lang="en-US" sz="2000" b="1" dirty="0">
                <a:solidFill>
                  <a:srgbClr val="0F2B46"/>
                </a:solidFill>
                <a:latin typeface="Trebuchet MS" pitchFamily="34" charset="0"/>
                <a:ea typeface="Trebuchet MS" pitchFamily="34" charset="-122"/>
                <a:cs typeface="Trebuchet MS" pitchFamily="34" charset="-120"/>
              </a:rPr>
              <a:t>NATS</a:t>
            </a:r>
            <a:endParaRPr lang="en-US" sz="2000" dirty="0"/>
          </a:p>
        </p:txBody>
      </p:sp>
      <p:sp>
        <p:nvSpPr>
          <p:cNvPr id="14" name="Text 12"/>
          <p:cNvSpPr/>
          <p:nvPr/>
        </p:nvSpPr>
        <p:spPr>
          <a:xfrm>
            <a:off x="5120640" y="1645920"/>
            <a:ext cx="3108960" cy="27432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Incubating</a:t>
            </a:r>
            <a:endParaRPr lang="en-US" sz="1100" dirty="0"/>
          </a:p>
        </p:txBody>
      </p:sp>
      <p:sp>
        <p:nvSpPr>
          <p:cNvPr id="15" name="Text 13"/>
          <p:cNvSpPr/>
          <p:nvPr/>
        </p:nvSpPr>
        <p:spPr>
          <a:xfrm>
            <a:off x="4846320" y="2011680"/>
            <a:ext cx="3657600" cy="731520"/>
          </a:xfrm>
          <a:prstGeom prst="rect">
            <a:avLst/>
          </a:prstGeom>
          <a:noFill/>
          <a:ln/>
        </p:spPr>
        <p:txBody>
          <a:bodyPr wrap="square" rtlCol="0" anchor="ctr"/>
          <a:lstStyle/>
          <a:p>
            <a:pPr algn="ctr" indent="0" marL="0">
              <a:buNone/>
            </a:pPr>
            <a:r>
              <a:rPr lang="en-US" sz="4400" b="1" dirty="0">
                <a:solidFill>
                  <a:srgbClr val="22C55E"/>
                </a:solidFill>
                <a:latin typeface="Trebuchet MS" pitchFamily="34" charset="0"/>
                <a:ea typeface="Trebuchet MS" pitchFamily="34" charset="-122"/>
                <a:cs typeface="Trebuchet MS" pitchFamily="34" charset="-120"/>
              </a:rPr>
              <a:t>280</a:t>
            </a:r>
            <a:endParaRPr lang="en-US" sz="4400" dirty="0"/>
          </a:p>
        </p:txBody>
      </p:sp>
      <p:sp>
        <p:nvSpPr>
          <p:cNvPr id="16" name="Text 14"/>
          <p:cNvSpPr/>
          <p:nvPr/>
        </p:nvSpPr>
        <p:spPr>
          <a:xfrm>
            <a:off x="4846320" y="2651760"/>
            <a:ext cx="3657600" cy="274320"/>
          </a:xfrm>
          <a:prstGeom prst="rect">
            <a:avLst/>
          </a:prstGeom>
          <a:noFill/>
          <a:ln/>
        </p:spPr>
        <p:txBody>
          <a:bodyPr wrap="square" rtlCol="0" anchor="ctr"/>
          <a:lstStyle/>
          <a:p>
            <a:pPr algn="ctr" indent="0" marL="0">
              <a:buNone/>
            </a:pPr>
            <a:r>
              <a:rPr lang="en-US" sz="1300" dirty="0">
                <a:solidFill>
                  <a:srgbClr val="475569"/>
                </a:solidFill>
                <a:latin typeface="Calibri" pitchFamily="34" charset="0"/>
                <a:ea typeface="Calibri" pitchFamily="34" charset="-122"/>
                <a:cs typeface="Calibri" pitchFamily="34" charset="-120"/>
              </a:rPr>
              <a:t>SBOMs</a:t>
            </a:r>
            <a:endParaRPr lang="en-US" sz="1300" dirty="0"/>
          </a:p>
        </p:txBody>
      </p:sp>
      <p:sp>
        <p:nvSpPr>
          <p:cNvPr id="17" name="Shape 15"/>
          <p:cNvSpPr/>
          <p:nvPr/>
        </p:nvSpPr>
        <p:spPr>
          <a:xfrm>
            <a:off x="5303520" y="3063240"/>
            <a:ext cx="2743200" cy="9144"/>
          </a:xfrm>
          <a:prstGeom prst="rect">
            <a:avLst/>
          </a:prstGeom>
          <a:solidFill>
            <a:srgbClr val="CBD5E1"/>
          </a:solidFill>
          <a:ln/>
        </p:spPr>
      </p:sp>
      <p:sp>
        <p:nvSpPr>
          <p:cNvPr id="18" name="Text 16"/>
          <p:cNvSpPr/>
          <p:nvPr/>
        </p:nvSpPr>
        <p:spPr>
          <a:xfrm>
            <a:off x="4846320" y="3200400"/>
            <a:ext cx="3657600" cy="365760"/>
          </a:xfrm>
          <a:prstGeom prst="rect">
            <a:avLst/>
          </a:prstGeom>
          <a:noFill/>
          <a:ln/>
        </p:spPr>
        <p:txBody>
          <a:bodyPr wrap="square" rtlCol="0" anchor="ctr"/>
          <a:lstStyle/>
          <a:p>
            <a:pPr algn="ctr" indent="0" marL="0">
              <a:buNone/>
            </a:pPr>
            <a:r>
              <a:rPr lang="en-US" sz="1800" b="1" dirty="0">
                <a:solidFill>
                  <a:srgbClr val="EF4444"/>
                </a:solidFill>
                <a:latin typeface="Trebuchet MS" pitchFamily="34" charset="0"/>
                <a:ea typeface="Trebuchet MS" pitchFamily="34" charset="-122"/>
                <a:cs typeface="Trebuchet MS" pitchFamily="34" charset="-120"/>
              </a:rPr>
              <a:t>0 Signatures</a:t>
            </a:r>
            <a:endParaRPr lang="en-US" sz="1800" dirty="0"/>
          </a:p>
        </p:txBody>
      </p:sp>
      <p:sp>
        <p:nvSpPr>
          <p:cNvPr id="19" name="Text 17"/>
          <p:cNvSpPr/>
          <p:nvPr/>
        </p:nvSpPr>
        <p:spPr>
          <a:xfrm>
            <a:off x="640080" y="4206240"/>
            <a:ext cx="7772400" cy="320040"/>
          </a:xfrm>
          <a:prstGeom prst="rect">
            <a:avLst/>
          </a:prstGeom>
          <a:noFill/>
          <a:ln/>
        </p:spPr>
        <p:txBody>
          <a:bodyPr wrap="square"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Projects are choosing one or the other. The supply chain needs both.</a:t>
            </a:r>
            <a:endParaRPr lang="en-US" sz="1200" dirty="0"/>
          </a:p>
        </p:txBody>
      </p:sp>
      <p:sp>
        <p:nvSpPr>
          <p:cNvPr id="20" name="Shape 18"/>
          <p:cNvSpPr/>
          <p:nvPr/>
        </p:nvSpPr>
        <p:spPr>
          <a:xfrm>
            <a:off x="0" y="4892040"/>
            <a:ext cx="9144000" cy="251460"/>
          </a:xfrm>
          <a:prstGeom prst="rect">
            <a:avLst/>
          </a:prstGeom>
          <a:solidFill>
            <a:srgbClr val="0F2B46"/>
          </a:solidFill>
          <a:ln/>
        </p:spPr>
      </p:sp>
      <p:sp>
        <p:nvSpPr>
          <p:cNvPr id="21" name="Text 19"/>
          <p:cNvSpPr/>
          <p:nvPr/>
        </p:nvSpPr>
        <p:spPr>
          <a:xfrm>
            <a:off x="457200" y="4892040"/>
            <a:ext cx="8229600" cy="25146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CNCF Supply Chain Security Analysis  |  March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65760"/>
            <a:ext cx="7772400" cy="50292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Tool Adoption Across the Ecosystem</a:t>
            </a:r>
            <a:endParaRPr lang="en-US" sz="2400" dirty="0"/>
          </a:p>
        </p:txBody>
      </p:sp>
      <p:graphicFrame>
        <p:nvGraphicFramePr>
          <p:cNvPr id="3" name="Chart 0" descr=""/>
          <p:cNvGraphicFramePr/>
          <p:nvPr/>
        </p:nvGraphicFramePr>
        <p:xfrm>
          <a:off x="640080" y="109728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6126480" y="1097280"/>
            <a:ext cx="2560320" cy="13716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5" name="Text 2"/>
          <p:cNvSpPr/>
          <p:nvPr/>
        </p:nvSpPr>
        <p:spPr>
          <a:xfrm>
            <a:off x="6126480" y="1188720"/>
            <a:ext cx="2560320" cy="640080"/>
          </a:xfrm>
          <a:prstGeom prst="rect">
            <a:avLst/>
          </a:prstGeom>
          <a:noFill/>
          <a:ln/>
        </p:spPr>
        <p:txBody>
          <a:bodyPr wrap="square" rtlCol="0" anchor="ctr"/>
          <a:lstStyle/>
          <a:p>
            <a:pPr algn="ctr" indent="0" marL="0">
              <a:buNone/>
            </a:pPr>
            <a:r>
              <a:rPr lang="en-US" sz="3600" b="1" dirty="0">
                <a:solidFill>
                  <a:srgbClr val="0D9488"/>
                </a:solidFill>
                <a:latin typeface="Trebuchet MS" pitchFamily="34" charset="0"/>
                <a:ea typeface="Trebuchet MS" pitchFamily="34" charset="-122"/>
                <a:cs typeface="Trebuchet MS" pitchFamily="34" charset="-120"/>
              </a:rPr>
              <a:t>89</a:t>
            </a:r>
            <a:endParaRPr lang="en-US" sz="3600" dirty="0"/>
          </a:p>
        </p:txBody>
      </p:sp>
      <p:sp>
        <p:nvSpPr>
          <p:cNvPr id="6" name="Text 3"/>
          <p:cNvSpPr/>
          <p:nvPr/>
        </p:nvSpPr>
        <p:spPr>
          <a:xfrm>
            <a:off x="6126480" y="1737360"/>
            <a:ext cx="2560320" cy="320040"/>
          </a:xfrm>
          <a:prstGeom prst="rect">
            <a:avLst/>
          </a:prstGeom>
          <a:noFill/>
          <a:ln/>
        </p:spPr>
        <p:txBody>
          <a:bodyPr wrap="square"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projects scan code</a:t>
            </a:r>
            <a:endParaRPr lang="en-US" sz="1200" dirty="0"/>
          </a:p>
        </p:txBody>
      </p:sp>
      <p:sp>
        <p:nvSpPr>
          <p:cNvPr id="7" name="Shape 4"/>
          <p:cNvSpPr/>
          <p:nvPr/>
        </p:nvSpPr>
        <p:spPr>
          <a:xfrm>
            <a:off x="6126480" y="2743200"/>
            <a:ext cx="2560320" cy="13716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8" name="Text 5"/>
          <p:cNvSpPr/>
          <p:nvPr/>
        </p:nvSpPr>
        <p:spPr>
          <a:xfrm>
            <a:off x="6126480" y="2834640"/>
            <a:ext cx="2560320" cy="640080"/>
          </a:xfrm>
          <a:prstGeom prst="rect">
            <a:avLst/>
          </a:prstGeom>
          <a:noFill/>
          <a:ln/>
        </p:spPr>
        <p:txBody>
          <a:bodyPr wrap="square" rtlCol="0" anchor="ctr"/>
          <a:lstStyle/>
          <a:p>
            <a:pPr algn="ctr" indent="0" marL="0">
              <a:buNone/>
            </a:pPr>
            <a:r>
              <a:rPr lang="en-US" sz="3600" b="1" dirty="0">
                <a:solidFill>
                  <a:srgbClr val="EF4444"/>
                </a:solidFill>
                <a:latin typeface="Trebuchet MS" pitchFamily="34" charset="0"/>
                <a:ea typeface="Trebuchet MS" pitchFamily="34" charset="-122"/>
                <a:cs typeface="Trebuchet MS" pitchFamily="34" charset="-120"/>
              </a:rPr>
              <a:t>14</a:t>
            </a:r>
            <a:endParaRPr lang="en-US" sz="3600" dirty="0"/>
          </a:p>
        </p:txBody>
      </p:sp>
      <p:sp>
        <p:nvSpPr>
          <p:cNvPr id="9" name="Text 6"/>
          <p:cNvSpPr/>
          <p:nvPr/>
        </p:nvSpPr>
        <p:spPr>
          <a:xfrm>
            <a:off x="6126480" y="3383280"/>
            <a:ext cx="2560320" cy="320040"/>
          </a:xfrm>
          <a:prstGeom prst="rect">
            <a:avLst/>
          </a:prstGeom>
          <a:noFill/>
          <a:ln/>
        </p:spPr>
        <p:txBody>
          <a:bodyPr wrap="square" rtlCol="0" anchor="ctr"/>
          <a:lstStyle/>
          <a:p>
            <a:pPr algn="ctr" indent="0" marL="0">
              <a:buNone/>
            </a:pPr>
            <a:r>
              <a:rPr lang="en-US" sz="1200" dirty="0">
                <a:solidFill>
                  <a:srgbClr val="475569"/>
                </a:solidFill>
                <a:latin typeface="Calibri" pitchFamily="34" charset="0"/>
                <a:ea typeface="Calibri" pitchFamily="34" charset="-122"/>
                <a:cs typeface="Calibri" pitchFamily="34" charset="-120"/>
              </a:rPr>
              <a:t>projects sign releases</a:t>
            </a:r>
            <a:endParaRPr lang="en-US" sz="1200" dirty="0"/>
          </a:p>
        </p:txBody>
      </p:sp>
      <p:sp>
        <p:nvSpPr>
          <p:cNvPr id="10" name="Shape 7"/>
          <p:cNvSpPr/>
          <p:nvPr/>
        </p:nvSpPr>
        <p:spPr>
          <a:xfrm>
            <a:off x="0" y="4892040"/>
            <a:ext cx="9144000" cy="251460"/>
          </a:xfrm>
          <a:prstGeom prst="rect">
            <a:avLst/>
          </a:prstGeom>
          <a:solidFill>
            <a:srgbClr val="0F2B46"/>
          </a:solidFill>
          <a:ln/>
        </p:spPr>
      </p:sp>
      <p:sp>
        <p:nvSpPr>
          <p:cNvPr id="11" name="Text 8"/>
          <p:cNvSpPr/>
          <p:nvPr/>
        </p:nvSpPr>
        <p:spPr>
          <a:xfrm>
            <a:off x="457200" y="4892040"/>
            <a:ext cx="8229600" cy="25146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CNCF Supply Chain Security Analysis  |  March 2026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65760"/>
            <a:ext cx="7772400" cy="50292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The Maturity Surprise</a:t>
            </a:r>
            <a:endParaRPr lang="en-US" sz="2400" dirty="0"/>
          </a:p>
        </p:txBody>
      </p:sp>
      <p:sp>
        <p:nvSpPr>
          <p:cNvPr id="3" name="Text 1"/>
          <p:cNvSpPr/>
          <p:nvPr/>
        </p:nvSpPr>
        <p:spPr>
          <a:xfrm>
            <a:off x="640080" y="822960"/>
            <a:ext cx="7772400" cy="365760"/>
          </a:xfrm>
          <a:prstGeom prst="rect">
            <a:avLst/>
          </a:prstGeom>
          <a:noFill/>
          <a:ln/>
        </p:spPr>
        <p:txBody>
          <a:bodyPr wrap="square"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Incubating projects are adopting supply chain security faster than graduated ones.</a:t>
            </a:r>
            <a:endParaRPr lang="en-US" sz="1300" dirty="0"/>
          </a:p>
        </p:txBody>
      </p:sp>
      <p:graphicFrame>
        <p:nvGraphicFramePr>
          <p:cNvPr id="4" name="Chart 0" descr=""/>
          <p:cNvGraphicFramePr/>
          <p:nvPr/>
        </p:nvGraphicFramePr>
        <p:xfrm>
          <a:off x="640080" y="1371600"/>
          <a:ext cx="7772400" cy="27432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0080" y="4297680"/>
            <a:ext cx="7772400" cy="32004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Newer projects are building supply chain security in from the start, not retrofitting.</a:t>
            </a:r>
            <a:endParaRPr lang="en-US" sz="1100" dirty="0"/>
          </a:p>
        </p:txBody>
      </p:sp>
      <p:sp>
        <p:nvSpPr>
          <p:cNvPr id="6" name="Shape 3"/>
          <p:cNvSpPr/>
          <p:nvPr/>
        </p:nvSpPr>
        <p:spPr>
          <a:xfrm>
            <a:off x="0" y="4892040"/>
            <a:ext cx="9144000" cy="251460"/>
          </a:xfrm>
          <a:prstGeom prst="rect">
            <a:avLst/>
          </a:prstGeom>
          <a:solidFill>
            <a:srgbClr val="0F2B46"/>
          </a:solidFill>
          <a:ln/>
        </p:spPr>
      </p:sp>
      <p:sp>
        <p:nvSpPr>
          <p:cNvPr id="7" name="Text 4"/>
          <p:cNvSpPr/>
          <p:nvPr/>
        </p:nvSpPr>
        <p:spPr>
          <a:xfrm>
            <a:off x="457200" y="4892040"/>
            <a:ext cx="8229600" cy="25146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CNCF Supply Chain Security Analysis  |  March 2026</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B46"/>
        </a:solidFill>
      </p:bgPr>
    </p:bg>
    <p:spTree>
      <p:nvGrpSpPr>
        <p:cNvPr id="1" name=""/>
        <p:cNvGrpSpPr/>
        <p:nvPr/>
      </p:nvGrpSpPr>
      <p:grpSpPr>
        <a:xfrm>
          <a:off x="0" y="0"/>
          <a:ext cx="0" cy="0"/>
          <a:chOff x="0" y="0"/>
          <a:chExt cx="0" cy="0"/>
        </a:xfrm>
      </p:grpSpPr>
      <p:sp>
        <p:nvSpPr>
          <p:cNvPr id="2" name="Text 0"/>
          <p:cNvSpPr/>
          <p:nvPr/>
        </p:nvSpPr>
        <p:spPr>
          <a:xfrm>
            <a:off x="640080" y="365760"/>
            <a:ext cx="77724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Where the Data Comes From</a:t>
            </a:r>
            <a:endParaRPr lang="en-US" sz="2400" dirty="0"/>
          </a:p>
        </p:txBody>
      </p:sp>
      <p:sp>
        <p:nvSpPr>
          <p:cNvPr id="3" name="Shape 1"/>
          <p:cNvSpPr/>
          <p:nvPr/>
        </p:nvSpPr>
        <p:spPr>
          <a:xfrm>
            <a:off x="365760" y="1645920"/>
            <a:ext cx="1325880" cy="1645920"/>
          </a:xfrm>
          <a:prstGeom prst="rect">
            <a:avLst/>
          </a:prstGeom>
          <a:solidFill>
            <a:srgbClr val="0D9488">
              <a:alpha val="15000"/>
            </a:srgbClr>
          </a:solidFill>
          <a:ln w="19050">
            <a:solidFill>
              <a:srgbClr val="0D9488"/>
            </a:solidFill>
            <a:prstDash val="solid"/>
          </a:ln>
        </p:spPr>
      </p:sp>
      <p:sp>
        <p:nvSpPr>
          <p:cNvPr id="4" name="Text 2"/>
          <p:cNvSpPr/>
          <p:nvPr/>
        </p:nvSpPr>
        <p:spPr>
          <a:xfrm>
            <a:off x="365760" y="1783080"/>
            <a:ext cx="1325880" cy="640080"/>
          </a:xfrm>
          <a:prstGeom prst="rect">
            <a:avLst/>
          </a:prstGeom>
          <a:noFill/>
          <a:ln/>
        </p:spPr>
        <p:txBody>
          <a:bodyPr wrap="square" lIns="0" tIns="0" rIns="0" bIns="0" rtlCol="0" anchor="t"/>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CNCF</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landscape.yml</a:t>
            </a:r>
            <a:endParaRPr lang="en-US" sz="1100" dirty="0"/>
          </a:p>
        </p:txBody>
      </p:sp>
      <p:sp>
        <p:nvSpPr>
          <p:cNvPr id="5" name="Text 3"/>
          <p:cNvSpPr/>
          <p:nvPr/>
        </p:nvSpPr>
        <p:spPr>
          <a:xfrm>
            <a:off x="411480" y="2468880"/>
            <a:ext cx="1234440" cy="731520"/>
          </a:xfrm>
          <a:prstGeom prst="rect">
            <a:avLst/>
          </a:prstGeom>
          <a:noFill/>
          <a:ln/>
        </p:spPr>
        <p:txBody>
          <a:bodyPr wrap="square" rtlCol="0" anchor="t"/>
          <a:lstStyle/>
          <a:p>
            <a:pPr algn="ctr" indent="0" marL="0">
              <a:buNone/>
            </a:pPr>
            <a:r>
              <a:rPr lang="en-US" sz="850" dirty="0">
                <a:solidFill>
                  <a:srgbClr val="E2E8F0"/>
                </a:solidFill>
                <a:latin typeface="Calibri" pitchFamily="34" charset="0"/>
                <a:ea typeface="Calibri" pitchFamily="34" charset="-122"/>
                <a:cs typeface="Calibri" pitchFamily="34" charset="-120"/>
              </a:rPr>
              <a:t>236 projects</a:t>
            </a:r>
            <a:endParaRPr lang="en-US" sz="850" dirty="0"/>
          </a:p>
        </p:txBody>
      </p:sp>
      <p:sp>
        <p:nvSpPr>
          <p:cNvPr id="6" name="Text 4"/>
          <p:cNvSpPr/>
          <p:nvPr/>
        </p:nvSpPr>
        <p:spPr>
          <a:xfrm>
            <a:off x="1719072" y="2103120"/>
            <a:ext cx="274320" cy="548640"/>
          </a:xfrm>
          <a:prstGeom prst="rect">
            <a:avLst/>
          </a:prstGeom>
          <a:noFill/>
          <a:ln/>
        </p:spPr>
        <p:txBody>
          <a:bodyPr wrap="square" rtlCol="0" anchor="ctr"/>
          <a:lstStyle/>
          <a:p>
            <a:pPr algn="ctr" indent="0" marL="0">
              <a:buNone/>
            </a:pPr>
            <a:r>
              <a:rPr lang="en-US" sz="2200" dirty="0">
                <a:solidFill>
                  <a:srgbClr val="0D9488"/>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2057400" y="1645920"/>
            <a:ext cx="1325880" cy="1645920"/>
          </a:xfrm>
          <a:prstGeom prst="rect">
            <a:avLst/>
          </a:prstGeom>
          <a:solidFill>
            <a:srgbClr val="14B8A6">
              <a:alpha val="15000"/>
            </a:srgbClr>
          </a:solidFill>
          <a:ln w="19050">
            <a:solidFill>
              <a:srgbClr val="14B8A6"/>
            </a:solidFill>
            <a:prstDash val="solid"/>
          </a:ln>
        </p:spPr>
      </p:sp>
      <p:sp>
        <p:nvSpPr>
          <p:cNvPr id="8" name="Text 6"/>
          <p:cNvSpPr/>
          <p:nvPr/>
        </p:nvSpPr>
        <p:spPr>
          <a:xfrm>
            <a:off x="2057400" y="1783080"/>
            <a:ext cx="1325880" cy="640080"/>
          </a:xfrm>
          <a:prstGeom prst="rect">
            <a:avLst/>
          </a:prstGeom>
          <a:noFill/>
          <a:ln/>
        </p:spPr>
        <p:txBody>
          <a:bodyPr wrap="square" lIns="0" tIns="0" rIns="0" bIns="0" rtlCol="0" anchor="t"/>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GitHub</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GraphQL API</a:t>
            </a:r>
            <a:endParaRPr lang="en-US" sz="1100" dirty="0"/>
          </a:p>
        </p:txBody>
      </p:sp>
      <p:sp>
        <p:nvSpPr>
          <p:cNvPr id="9" name="Text 7"/>
          <p:cNvSpPr/>
          <p:nvPr/>
        </p:nvSpPr>
        <p:spPr>
          <a:xfrm>
            <a:off x="2103120" y="2468880"/>
            <a:ext cx="1234440" cy="731520"/>
          </a:xfrm>
          <a:prstGeom prst="rect">
            <a:avLst/>
          </a:prstGeom>
          <a:noFill/>
          <a:ln/>
        </p:spPr>
        <p:txBody>
          <a:bodyPr wrap="square" rtlCol="0" anchor="t"/>
          <a:lstStyle/>
          <a:p>
            <a:pPr algn="ctr" indent="0" marL="0">
              <a:buNone/>
            </a:pPr>
            <a:r>
              <a:rPr lang="en-US" sz="850" dirty="0">
                <a:solidFill>
                  <a:srgbClr val="E2E8F0"/>
                </a:solidFill>
                <a:latin typeface="Calibri" pitchFamily="34" charset="0"/>
                <a:ea typeface="Calibri" pitchFamily="34" charset="-122"/>
                <a:cs typeface="Calibri" pitchFamily="34" charset="-120"/>
              </a:rPr>
              <a:t>Releases, workflows,</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Security Insights</a:t>
            </a:r>
            <a:endParaRPr lang="en-US" sz="850" dirty="0"/>
          </a:p>
        </p:txBody>
      </p:sp>
      <p:sp>
        <p:nvSpPr>
          <p:cNvPr id="10" name="Text 8"/>
          <p:cNvSpPr/>
          <p:nvPr/>
        </p:nvSpPr>
        <p:spPr>
          <a:xfrm>
            <a:off x="3410712" y="2103120"/>
            <a:ext cx="274320" cy="548640"/>
          </a:xfrm>
          <a:prstGeom prst="rect">
            <a:avLst/>
          </a:prstGeom>
          <a:noFill/>
          <a:ln/>
        </p:spPr>
        <p:txBody>
          <a:bodyPr wrap="square" rtlCol="0" anchor="ctr"/>
          <a:lstStyle/>
          <a:p>
            <a:pPr algn="ctr" indent="0" marL="0">
              <a:buNone/>
            </a:pPr>
            <a:r>
              <a:rPr lang="en-US" sz="2200" dirty="0">
                <a:solidFill>
                  <a:srgbClr val="0D9488"/>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3749040" y="1645920"/>
            <a:ext cx="1325880" cy="1645920"/>
          </a:xfrm>
          <a:prstGeom prst="rect">
            <a:avLst/>
          </a:prstGeom>
          <a:solidFill>
            <a:srgbClr val="14B8A6">
              <a:alpha val="15000"/>
            </a:srgbClr>
          </a:solidFill>
          <a:ln w="19050">
            <a:solidFill>
              <a:srgbClr val="14B8A6"/>
            </a:solidFill>
            <a:prstDash val="solid"/>
          </a:ln>
        </p:spPr>
      </p:sp>
      <p:sp>
        <p:nvSpPr>
          <p:cNvPr id="12" name="Text 10"/>
          <p:cNvSpPr/>
          <p:nvPr/>
        </p:nvSpPr>
        <p:spPr>
          <a:xfrm>
            <a:off x="3749040" y="1783080"/>
            <a:ext cx="1325880" cy="640080"/>
          </a:xfrm>
          <a:prstGeom prst="rect">
            <a:avLst/>
          </a:prstGeom>
          <a:noFill/>
          <a:ln/>
        </p:spPr>
        <p:txBody>
          <a:bodyPr wrap="square" lIns="0" tIns="0" rIns="0" bIns="0" rtlCol="0" anchor="t"/>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TypeScript</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Normalizers</a:t>
            </a:r>
            <a:endParaRPr lang="en-US" sz="1100" dirty="0"/>
          </a:p>
        </p:txBody>
      </p:sp>
      <p:sp>
        <p:nvSpPr>
          <p:cNvPr id="13" name="Text 11"/>
          <p:cNvSpPr/>
          <p:nvPr/>
        </p:nvSpPr>
        <p:spPr>
          <a:xfrm>
            <a:off x="3794760" y="2468880"/>
            <a:ext cx="1234440" cy="731520"/>
          </a:xfrm>
          <a:prstGeom prst="rect">
            <a:avLst/>
          </a:prstGeom>
          <a:noFill/>
          <a:ln/>
        </p:spPr>
        <p:txBody>
          <a:bodyPr wrap="square" rtlCol="0" anchor="t"/>
          <a:lstStyle/>
          <a:p>
            <a:pPr algn="ctr" indent="0" marL="0">
              <a:buNone/>
            </a:pPr>
            <a:r>
              <a:rPr lang="en-US" sz="850" dirty="0">
                <a:solidFill>
                  <a:srgbClr val="E2E8F0"/>
                </a:solidFill>
                <a:latin typeface="Calibri" pitchFamily="34" charset="0"/>
                <a:ea typeface="Calibri" pitchFamily="34" charset="-122"/>
                <a:cs typeface="Calibri" pitchFamily="34" charset="-120"/>
              </a:rPr>
              <a:t>Pattern matching,</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FTS on YAML</a:t>
            </a:r>
            <a:endParaRPr lang="en-US" sz="850" dirty="0"/>
          </a:p>
        </p:txBody>
      </p:sp>
      <p:sp>
        <p:nvSpPr>
          <p:cNvPr id="14" name="Text 12"/>
          <p:cNvSpPr/>
          <p:nvPr/>
        </p:nvSpPr>
        <p:spPr>
          <a:xfrm>
            <a:off x="5102352" y="2103120"/>
            <a:ext cx="274320" cy="548640"/>
          </a:xfrm>
          <a:prstGeom prst="rect">
            <a:avLst/>
          </a:prstGeom>
          <a:noFill/>
          <a:ln/>
        </p:spPr>
        <p:txBody>
          <a:bodyPr wrap="square" rtlCol="0" anchor="ctr"/>
          <a:lstStyle/>
          <a:p>
            <a:pPr algn="ctr" indent="0" marL="0">
              <a:buNone/>
            </a:pPr>
            <a:r>
              <a:rPr lang="en-US" sz="2200" dirty="0">
                <a:solidFill>
                  <a:srgbClr val="0D9488"/>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5440680" y="1645920"/>
            <a:ext cx="1325880" cy="1645920"/>
          </a:xfrm>
          <a:prstGeom prst="rect">
            <a:avLst/>
          </a:prstGeom>
          <a:solidFill>
            <a:srgbClr val="0D9488">
              <a:alpha val="15000"/>
            </a:srgbClr>
          </a:solidFill>
          <a:ln w="19050">
            <a:solidFill>
              <a:srgbClr val="0D9488"/>
            </a:solidFill>
            <a:prstDash val="solid"/>
          </a:ln>
        </p:spPr>
      </p:sp>
      <p:sp>
        <p:nvSpPr>
          <p:cNvPr id="16" name="Text 14"/>
          <p:cNvSpPr/>
          <p:nvPr/>
        </p:nvSpPr>
        <p:spPr>
          <a:xfrm>
            <a:off x="5440680" y="1783080"/>
            <a:ext cx="1325880" cy="640080"/>
          </a:xfrm>
          <a:prstGeom prst="rect">
            <a:avLst/>
          </a:prstGeom>
          <a:noFill/>
          <a:ln/>
        </p:spPr>
        <p:txBody>
          <a:bodyPr wrap="square" lIns="0" tIns="0" rIns="0" bIns="0" rtlCol="0" anchor="t"/>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DuckDB</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 Parquet</a:t>
            </a:r>
            <a:endParaRPr lang="en-US" sz="1100" dirty="0"/>
          </a:p>
        </p:txBody>
      </p:sp>
      <p:sp>
        <p:nvSpPr>
          <p:cNvPr id="17" name="Text 15"/>
          <p:cNvSpPr/>
          <p:nvPr/>
        </p:nvSpPr>
        <p:spPr>
          <a:xfrm>
            <a:off x="5486400" y="2468880"/>
            <a:ext cx="1234440" cy="731520"/>
          </a:xfrm>
          <a:prstGeom prst="rect">
            <a:avLst/>
          </a:prstGeom>
          <a:noFill/>
          <a:ln/>
        </p:spPr>
        <p:txBody>
          <a:bodyPr wrap="square" rtlCol="0" anchor="t"/>
          <a:lstStyle/>
          <a:p>
            <a:pPr algn="ctr" indent="0" marL="0">
              <a:buNone/>
            </a:pPr>
            <a:r>
              <a:rPr lang="en-US" sz="850" dirty="0">
                <a:solidFill>
                  <a:srgbClr val="E2E8F0"/>
                </a:solidFill>
                <a:latin typeface="Calibri" pitchFamily="34" charset="0"/>
                <a:ea typeface="Calibri" pitchFamily="34" charset="-122"/>
                <a:cs typeface="Calibri" pitchFamily="34" charset="-120"/>
              </a:rPr>
              <a:t>base_* tables</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 raw data</a:t>
            </a:r>
            <a:endParaRPr lang="en-US" sz="850" dirty="0"/>
          </a:p>
        </p:txBody>
      </p:sp>
      <p:sp>
        <p:nvSpPr>
          <p:cNvPr id="18" name="Text 16"/>
          <p:cNvSpPr/>
          <p:nvPr/>
        </p:nvSpPr>
        <p:spPr>
          <a:xfrm>
            <a:off x="6793992" y="2103120"/>
            <a:ext cx="274320" cy="548640"/>
          </a:xfrm>
          <a:prstGeom prst="rect">
            <a:avLst/>
          </a:prstGeom>
          <a:noFill/>
          <a:ln/>
        </p:spPr>
        <p:txBody>
          <a:bodyPr wrap="square" rtlCol="0" anchor="ctr"/>
          <a:lstStyle/>
          <a:p>
            <a:pPr algn="ctr" indent="0" marL="0">
              <a:buNone/>
            </a:pPr>
            <a:r>
              <a:rPr lang="en-US" sz="2200" dirty="0">
                <a:solidFill>
                  <a:srgbClr val="0D9488"/>
                </a:solidFill>
                <a:latin typeface="Calibri" pitchFamily="34" charset="0"/>
                <a:ea typeface="Calibri" pitchFamily="34" charset="-122"/>
                <a:cs typeface="Calibri" pitchFamily="34" charset="-120"/>
              </a:rPr>
              <a:t>→</a:t>
            </a:r>
            <a:endParaRPr lang="en-US" sz="2200" dirty="0"/>
          </a:p>
        </p:txBody>
      </p:sp>
      <p:sp>
        <p:nvSpPr>
          <p:cNvPr id="19" name="Shape 17"/>
          <p:cNvSpPr/>
          <p:nvPr/>
        </p:nvSpPr>
        <p:spPr>
          <a:xfrm>
            <a:off x="7132320" y="1645920"/>
            <a:ext cx="1325880" cy="1645920"/>
          </a:xfrm>
          <a:prstGeom prst="rect">
            <a:avLst/>
          </a:prstGeom>
          <a:solidFill>
            <a:srgbClr val="14B8A6">
              <a:alpha val="15000"/>
            </a:srgbClr>
          </a:solidFill>
          <a:ln w="19050">
            <a:solidFill>
              <a:srgbClr val="14B8A6"/>
            </a:solidFill>
            <a:prstDash val="solid"/>
          </a:ln>
        </p:spPr>
      </p:sp>
      <p:sp>
        <p:nvSpPr>
          <p:cNvPr id="20" name="Text 18"/>
          <p:cNvSpPr/>
          <p:nvPr/>
        </p:nvSpPr>
        <p:spPr>
          <a:xfrm>
            <a:off x="7132320" y="1783080"/>
            <a:ext cx="1325880" cy="640080"/>
          </a:xfrm>
          <a:prstGeom prst="rect">
            <a:avLst/>
          </a:prstGeom>
          <a:noFill/>
          <a:ln/>
        </p:spPr>
        <p:txBody>
          <a:bodyPr wrap="square" lIns="0" tIns="0" rIns="0" bIns="0" rtlCol="0" anchor="t"/>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SQL Analysis</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Models</a:t>
            </a:r>
            <a:endParaRPr lang="en-US" sz="1100" dirty="0"/>
          </a:p>
        </p:txBody>
      </p:sp>
      <p:sp>
        <p:nvSpPr>
          <p:cNvPr id="21" name="Text 19"/>
          <p:cNvSpPr/>
          <p:nvPr/>
        </p:nvSpPr>
        <p:spPr>
          <a:xfrm>
            <a:off x="7178040" y="2468880"/>
            <a:ext cx="1234440" cy="731520"/>
          </a:xfrm>
          <a:prstGeom prst="rect">
            <a:avLst/>
          </a:prstGeom>
          <a:noFill/>
          <a:ln/>
        </p:spPr>
        <p:txBody>
          <a:bodyPr wrap="square" rtlCol="0" anchor="t"/>
          <a:lstStyle/>
          <a:p>
            <a:pPr algn="ctr" indent="0" marL="0">
              <a:buNone/>
            </a:pPr>
            <a:r>
              <a:rPr lang="en-US" sz="850" dirty="0">
                <a:solidFill>
                  <a:srgbClr val="E2E8F0"/>
                </a:solidFill>
                <a:latin typeface="Calibri" pitchFamily="34" charset="0"/>
                <a:ea typeface="Calibri" pitchFamily="34" charset="-122"/>
                <a:cs typeface="Calibri" pitchFamily="34" charset="-120"/>
              </a:rPr>
              <a:t>5-stage pipeline</a:t>
            </a:r>
            <a:endParaRPr lang="en-US" sz="850" dirty="0"/>
          </a:p>
          <a:p>
            <a:pPr algn="ctr" indent="0" marL="0">
              <a:buNone/>
            </a:pPr>
            <a:r>
              <a:rPr lang="en-US" sz="850" dirty="0">
                <a:solidFill>
                  <a:srgbClr val="E2E8F0"/>
                </a:solidFill>
                <a:latin typeface="Calibri" pitchFamily="34" charset="0"/>
                <a:ea typeface="Calibri" pitchFamily="34" charset="-122"/>
                <a:cs typeface="Calibri" pitchFamily="34" charset="-120"/>
              </a:rPr>
              <a:t>agg_* tables</a:t>
            </a:r>
            <a:endParaRPr lang="en-US" sz="850" dirty="0"/>
          </a:p>
        </p:txBody>
      </p:sp>
      <p:sp>
        <p:nvSpPr>
          <p:cNvPr id="22" name="Text 20"/>
          <p:cNvSpPr/>
          <p:nvPr/>
        </p:nvSpPr>
        <p:spPr>
          <a:xfrm>
            <a:off x="640080" y="3840480"/>
            <a:ext cx="7772400" cy="320040"/>
          </a:xfrm>
          <a:prstGeom prst="rect">
            <a:avLst/>
          </a:prstGeom>
          <a:noFill/>
          <a:ln/>
        </p:spPr>
        <p:txBody>
          <a:bodyPr wrap="square" rtlCol="0" anchor="ctr"/>
          <a:lstStyle/>
          <a:p>
            <a:pPr indent="0" marL="0">
              <a:buNone/>
            </a:pPr>
            <a:r>
              <a:rPr lang="en-US" sz="1200" dirty="0">
                <a:solidFill>
                  <a:srgbClr val="E2E8F0"/>
                </a:solidFill>
                <a:latin typeface="Calibri" pitchFamily="34" charset="0"/>
                <a:ea typeface="Calibri" pitchFamily="34" charset="-122"/>
                <a:cs typeface="Calibri" pitchFamily="34" charset="-120"/>
              </a:rPr>
              <a:t>GitHub GraphQL API  →  TypeScript normalizers  →  DuckDB  →  SQL analysis</a:t>
            </a:r>
            <a:endParaRPr lang="en-US" sz="1200" dirty="0"/>
          </a:p>
        </p:txBody>
      </p:sp>
      <p:sp>
        <p:nvSpPr>
          <p:cNvPr id="23" name="Text 21"/>
          <p:cNvSpPr/>
          <p:nvPr/>
        </p:nvSpPr>
        <p:spPr>
          <a:xfrm>
            <a:off x="640080" y="4160520"/>
            <a:ext cx="7772400" cy="3200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Output: Parquet files, DuckDB database, markdown reports. Queryable by anyone with SQL.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65760"/>
            <a:ext cx="7772400" cy="50292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What We Measure</a:t>
            </a:r>
            <a:endParaRPr lang="en-US" sz="2400" dirty="0"/>
          </a:p>
        </p:txBody>
      </p:sp>
      <p:sp>
        <p:nvSpPr>
          <p:cNvPr id="3" name="Shape 1"/>
          <p:cNvSpPr/>
          <p:nvPr/>
        </p:nvSpPr>
        <p:spPr>
          <a:xfrm>
            <a:off x="640080" y="1051560"/>
            <a:ext cx="3657600" cy="3291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4" name="Shape 2"/>
          <p:cNvSpPr/>
          <p:nvPr/>
        </p:nvSpPr>
        <p:spPr>
          <a:xfrm>
            <a:off x="640080" y="1051560"/>
            <a:ext cx="3657600" cy="54864"/>
          </a:xfrm>
          <a:prstGeom prst="rect">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914400" y="1234440"/>
            <a:ext cx="320040" cy="320040"/>
          </a:xfrm>
          <a:prstGeom prst="rect">
            <a:avLst/>
          </a:prstGeom>
        </p:spPr>
      </p:pic>
      <p:sp>
        <p:nvSpPr>
          <p:cNvPr id="6" name="Text 3"/>
          <p:cNvSpPr/>
          <p:nvPr/>
        </p:nvSpPr>
        <p:spPr>
          <a:xfrm>
            <a:off x="1325880" y="1234440"/>
            <a:ext cx="2743200" cy="320040"/>
          </a:xfrm>
          <a:prstGeom prst="rect">
            <a:avLst/>
          </a:prstGeom>
          <a:noFill/>
          <a:ln/>
        </p:spPr>
        <p:txBody>
          <a:bodyPr wrap="square" lIns="0" tIns="0" rIns="0" bIns="0" rtlCol="0" anchor="ctr"/>
          <a:lstStyle/>
          <a:p>
            <a:pPr indent="0" marL="0">
              <a:buNone/>
            </a:pPr>
            <a:r>
              <a:rPr lang="en-US" sz="1600" b="1" dirty="0">
                <a:solidFill>
                  <a:srgbClr val="0D9488"/>
                </a:solidFill>
                <a:latin typeface="Trebuchet MS" pitchFamily="34" charset="0"/>
                <a:ea typeface="Trebuchet MS" pitchFamily="34" charset="-122"/>
                <a:cs typeface="Trebuchet MS" pitchFamily="34" charset="-120"/>
              </a:rPr>
              <a:t>What We See</a:t>
            </a:r>
            <a:endParaRPr lang="en-US" sz="1600" dirty="0"/>
          </a:p>
        </p:txBody>
      </p:sp>
      <p:sp>
        <p:nvSpPr>
          <p:cNvPr id="7" name="Text 4"/>
          <p:cNvSpPr/>
          <p:nvPr/>
        </p:nvSpPr>
        <p:spPr>
          <a:xfrm>
            <a:off x="914400" y="1737360"/>
            <a:ext cx="3108960" cy="2377440"/>
          </a:xfrm>
          <a:prstGeom prst="rect">
            <a:avLst/>
          </a:prstGeom>
          <a:noFill/>
          <a:ln/>
        </p:spPr>
        <p:txBody>
          <a:bodyPr wrap="square" rtlCol="0" anchor="ctr"/>
          <a:lstStyle/>
          <a:p>
            <a:pPr marL="342900" indent="-342900">
              <a:spcAft>
                <a:spcPts val="600"/>
              </a:spcAft>
              <a:buSzPct val="100000"/>
              <a:buChar char="•"/>
            </a:pPr>
            <a:r>
              <a:rPr lang="en-US" sz="1100" dirty="0">
                <a:solidFill>
                  <a:srgbClr val="0F172A"/>
                </a:solidFill>
                <a:latin typeface="Calibri" pitchFamily="34" charset="0"/>
                <a:ea typeface="Calibri" pitchFamily="34" charset="-122"/>
                <a:cs typeface="Calibri" pitchFamily="34" charset="-120"/>
              </a:rPr>
              <a:t>Release asset filenames (SPDX, CycloneDX, .sig, .asc)</a:t>
            </a:r>
            <a:endParaRPr lang="en-US" sz="1100" dirty="0"/>
          </a:p>
          <a:p>
            <a:pPr marL="342900" indent="-342900">
              <a:spcAft>
                <a:spcPts val="600"/>
              </a:spcAft>
              <a:buSzPct val="100000"/>
              <a:buChar char="•"/>
            </a:pPr>
            <a:r>
              <a:rPr lang="en-US" sz="1100" dirty="0">
                <a:solidFill>
                  <a:srgbClr val="0F172A"/>
                </a:solidFill>
                <a:latin typeface="Calibri" pitchFamily="34" charset="0"/>
                <a:ea typeface="Calibri" pitchFamily="34" charset="-122"/>
                <a:cs typeface="Calibri" pitchFamily="34" charset="-120"/>
              </a:rPr>
              <a:t>GitHub Actions workflow YAML content</a:t>
            </a:r>
            <a:endParaRPr lang="en-US" sz="1100" dirty="0"/>
          </a:p>
          <a:p>
            <a:pPr marL="342900" indent="-342900">
              <a:spcAft>
                <a:spcPts val="600"/>
              </a:spcAft>
              <a:buSzPct val="100000"/>
              <a:buChar char="•"/>
            </a:pPr>
            <a:r>
              <a:rPr lang="en-US" sz="1100" dirty="0">
                <a:solidFill>
                  <a:srgbClr val="0F172A"/>
                </a:solidFill>
                <a:latin typeface="Calibri" pitchFamily="34" charset="0"/>
                <a:ea typeface="Calibri" pitchFamily="34" charset="-122"/>
                <a:cs typeface="Calibri" pitchFamily="34" charset="-120"/>
              </a:rPr>
              <a:t>20+ security tool names via full-text search</a:t>
            </a:r>
            <a:endParaRPr lang="en-US" sz="1100" dirty="0"/>
          </a:p>
          <a:p>
            <a:pPr marL="342900" indent="-342900">
              <a:spcAft>
                <a:spcPts val="600"/>
              </a:spcAft>
              <a:buSzPct val="100000"/>
              <a:buChar char="•"/>
            </a:pPr>
            <a:r>
              <a:rPr lang="en-US" sz="1100" dirty="0">
                <a:solidFill>
                  <a:srgbClr val="0F172A"/>
                </a:solidFill>
                <a:latin typeface="Calibri" pitchFamily="34" charset="0"/>
                <a:ea typeface="Calibri" pitchFamily="34" charset="-122"/>
                <a:cs typeface="Calibri" pitchFamily="34" charset="-120"/>
              </a:rPr>
              <a:t>SECURITY-INSIGHTS.yml declarations</a:t>
            </a:r>
            <a:endParaRPr lang="en-US" sz="1100" dirty="0"/>
          </a:p>
          <a:p>
            <a:pPr marL="342900" indent="-342900">
              <a:spcAft>
                <a:spcPts val="600"/>
              </a:spcAft>
              <a:buSzPct val="100000"/>
              <a:buChar char="•"/>
            </a:pPr>
            <a:r>
              <a:rPr lang="en-US" sz="1100" dirty="0">
                <a:solidFill>
                  <a:srgbClr val="0F172A"/>
                </a:solidFill>
                <a:latin typeface="Calibri" pitchFamily="34" charset="0"/>
                <a:ea typeface="Calibri" pitchFamily="34" charset="-122"/>
                <a:cs typeface="Calibri" pitchFamily="34" charset="-120"/>
              </a:rPr>
              <a:t>Branch protection rules</a:t>
            </a:r>
            <a:endParaRPr lang="en-US" sz="1100" dirty="0"/>
          </a:p>
        </p:txBody>
      </p:sp>
      <p:sp>
        <p:nvSpPr>
          <p:cNvPr id="8" name="Shape 5"/>
          <p:cNvSpPr/>
          <p:nvPr/>
        </p:nvSpPr>
        <p:spPr>
          <a:xfrm>
            <a:off x="4846320" y="1051560"/>
            <a:ext cx="3657600" cy="329184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9" name="Shape 6"/>
          <p:cNvSpPr/>
          <p:nvPr/>
        </p:nvSpPr>
        <p:spPr>
          <a:xfrm>
            <a:off x="4846320" y="1051560"/>
            <a:ext cx="3657600" cy="54864"/>
          </a:xfrm>
          <a:prstGeom prst="rect">
            <a:avLst/>
          </a:prstGeom>
          <a:solidFill>
            <a:srgbClr val="94A3B8"/>
          </a:solidFill>
          <a:ln/>
        </p:spPr>
      </p:sp>
      <p:pic>
        <p:nvPicPr>
          <p:cNvPr id="10" name="Image 1" descr="preencoded.png">    </p:cNvPr>
          <p:cNvPicPr>
            <a:picLocks noChangeAspect="1"/>
          </p:cNvPicPr>
          <p:nvPr/>
        </p:nvPicPr>
        <p:blipFill>
          <a:blip r:embed="rId2"/>
          <a:stretch>
            <a:fillRect/>
          </a:stretch>
        </p:blipFill>
        <p:spPr>
          <a:xfrm>
            <a:off x="5120640" y="1234440"/>
            <a:ext cx="320040" cy="320040"/>
          </a:xfrm>
          <a:prstGeom prst="rect">
            <a:avLst/>
          </a:prstGeom>
        </p:spPr>
      </p:pic>
      <p:sp>
        <p:nvSpPr>
          <p:cNvPr id="11" name="Text 7"/>
          <p:cNvSpPr/>
          <p:nvPr/>
        </p:nvSpPr>
        <p:spPr>
          <a:xfrm>
            <a:off x="5532120" y="1234440"/>
            <a:ext cx="2743200" cy="320040"/>
          </a:xfrm>
          <a:prstGeom prst="rect">
            <a:avLst/>
          </a:prstGeom>
          <a:noFill/>
          <a:ln/>
        </p:spPr>
        <p:txBody>
          <a:bodyPr wrap="square" lIns="0" tIns="0" rIns="0" bIns="0" rtlCol="0" anchor="ctr"/>
          <a:lstStyle/>
          <a:p>
            <a:pPr indent="0" marL="0">
              <a:buNone/>
            </a:pPr>
            <a:r>
              <a:rPr lang="en-US" sz="1600" b="1" dirty="0">
                <a:solidFill>
                  <a:srgbClr val="64748B"/>
                </a:solidFill>
                <a:latin typeface="Trebuchet MS" pitchFamily="34" charset="0"/>
                <a:ea typeface="Trebuchet MS" pitchFamily="34" charset="-122"/>
                <a:cs typeface="Trebuchet MS" pitchFamily="34" charset="-120"/>
              </a:rPr>
              <a:t>What We Don't See</a:t>
            </a:r>
            <a:endParaRPr lang="en-US" sz="1600" dirty="0"/>
          </a:p>
        </p:txBody>
      </p:sp>
      <p:sp>
        <p:nvSpPr>
          <p:cNvPr id="12" name="Text 8"/>
          <p:cNvSpPr/>
          <p:nvPr/>
        </p:nvSpPr>
        <p:spPr>
          <a:xfrm>
            <a:off x="5120640" y="1737360"/>
            <a:ext cx="3108960" cy="2377440"/>
          </a:xfrm>
          <a:prstGeom prst="rect">
            <a:avLst/>
          </a:prstGeom>
          <a:noFill/>
          <a:ln/>
        </p:spPr>
        <p:txBody>
          <a:bodyPr wrap="square" rtlCol="0" anchor="ctr"/>
          <a:lstStyle/>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OCI registry artifacts (cosign, attached SBOMs)</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Non-GitHub CI systems (Prow, Jenkins, GitLab)</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Whether detected tools execute successfully</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Artifact validity or completeness</a:t>
            </a:r>
            <a:endParaRPr lang="en-US" sz="1100" dirty="0"/>
          </a:p>
          <a:p>
            <a:pPr marL="342900" indent="-342900">
              <a:spcAft>
                <a:spcPts val="600"/>
              </a:spcAft>
              <a:buSzPct val="100000"/>
              <a:buChar char="•"/>
            </a:pPr>
            <a:r>
              <a:rPr lang="en-US" sz="1100" dirty="0">
                <a:solidFill>
                  <a:srgbClr val="475569"/>
                </a:solidFill>
                <a:latin typeface="Calibri" pitchFamily="34" charset="0"/>
                <a:ea typeface="Calibri" pitchFamily="34" charset="-122"/>
                <a:cs typeface="Calibri" pitchFamily="34" charset="-120"/>
              </a:rPr>
              <a:t>Container image signatures</a:t>
            </a:r>
            <a:endParaRPr lang="en-US" sz="1100" dirty="0"/>
          </a:p>
        </p:txBody>
      </p:sp>
      <p:sp>
        <p:nvSpPr>
          <p:cNvPr id="13" name="Text 9"/>
          <p:cNvSpPr/>
          <p:nvPr/>
        </p:nvSpPr>
        <p:spPr>
          <a:xfrm>
            <a:off x="640080" y="4480560"/>
            <a:ext cx="7772400" cy="274320"/>
          </a:xfrm>
          <a:prstGeom prst="rect">
            <a:avLst/>
          </a:prstGeom>
          <a:noFill/>
          <a:ln/>
        </p:spPr>
        <p:txBody>
          <a:bodyPr wrap="square" rtlCol="0" anchor="ctr"/>
          <a:lstStyle/>
          <a:p>
            <a:pPr indent="0" marL="0">
              <a:buNone/>
            </a:pPr>
            <a:r>
              <a:rPr lang="en-US" sz="1000" i="1" dirty="0">
                <a:solidFill>
                  <a:srgbClr val="475569"/>
                </a:solidFill>
                <a:latin typeface="Calibri" pitchFamily="34" charset="0"/>
                <a:ea typeface="Calibri" pitchFamily="34" charset="-122"/>
                <a:cs typeface="Calibri" pitchFamily="34" charset="-120"/>
              </a:rPr>
              <a:t>This measures observable supply chain security hygiene -- a leading indicator, not a compliance certification.</a:t>
            </a:r>
            <a:endParaRPr lang="en-US" sz="1000" dirty="0"/>
          </a:p>
        </p:txBody>
      </p:sp>
      <p:sp>
        <p:nvSpPr>
          <p:cNvPr id="14" name="Shape 10"/>
          <p:cNvSpPr/>
          <p:nvPr/>
        </p:nvSpPr>
        <p:spPr>
          <a:xfrm>
            <a:off x="0" y="4892040"/>
            <a:ext cx="9144000" cy="251460"/>
          </a:xfrm>
          <a:prstGeom prst="rect">
            <a:avLst/>
          </a:prstGeom>
          <a:solidFill>
            <a:srgbClr val="0F2B46"/>
          </a:solidFill>
          <a:ln/>
        </p:spPr>
      </p:sp>
      <p:sp>
        <p:nvSpPr>
          <p:cNvPr id="15" name="Text 11"/>
          <p:cNvSpPr/>
          <p:nvPr/>
        </p:nvSpPr>
        <p:spPr>
          <a:xfrm>
            <a:off x="457200" y="4892040"/>
            <a:ext cx="8229600" cy="25146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CNCF Supply Chain Security Analysis  |  March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B46"/>
        </a:solidFill>
      </p:bgPr>
    </p:bg>
    <p:spTree>
      <p:nvGrpSpPr>
        <p:cNvPr id="1" name=""/>
        <p:cNvGrpSpPr/>
        <p:nvPr/>
      </p:nvGrpSpPr>
      <p:grpSpPr>
        <a:xfrm>
          <a:off x="0" y="0"/>
          <a:ext cx="0" cy="0"/>
          <a:chOff x="0" y="0"/>
          <a:chExt cx="0" cy="0"/>
        </a:xfrm>
      </p:grpSpPr>
      <p:sp>
        <p:nvSpPr>
          <p:cNvPr id="2" name="Text 0"/>
          <p:cNvSpPr/>
          <p:nvPr/>
        </p:nvSpPr>
        <p:spPr>
          <a:xfrm>
            <a:off x="640080" y="365760"/>
            <a:ext cx="77724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The Full Pipeline Vision</a:t>
            </a:r>
            <a:endParaRPr lang="en-US" sz="2400" dirty="0"/>
          </a:p>
        </p:txBody>
      </p:sp>
      <p:sp>
        <p:nvSpPr>
          <p:cNvPr id="3" name="Text 1"/>
          <p:cNvSpPr/>
          <p:nvPr/>
        </p:nvSpPr>
        <p:spPr>
          <a:xfrm>
            <a:off x="640080" y="822960"/>
            <a:ext cx="7772400" cy="365760"/>
          </a:xfrm>
          <a:prstGeom prst="rect">
            <a:avLst/>
          </a:prstGeom>
          <a:noFill/>
          <a:ln/>
        </p:spPr>
        <p:txBody>
          <a:bodyPr wrap="square" rtlCol="0" anchor="ctr"/>
          <a:lstStyle/>
          <a:p>
            <a:pPr indent="0" marL="0">
              <a:buNone/>
            </a:pPr>
            <a:r>
              <a:rPr lang="en-US" sz="1300" i="1" dirty="0">
                <a:solidFill>
                  <a:srgbClr val="E2E8F0"/>
                </a:solidFill>
                <a:latin typeface="Calibri" pitchFamily="34" charset="0"/>
                <a:ea typeface="Calibri" pitchFamily="34" charset="-122"/>
                <a:cs typeface="Calibri" pitchFamily="34" charset="-120"/>
              </a:rPr>
              <a:t>Collector + GUAC: Who produces supply chain metadata, and how it connects.</a:t>
            </a:r>
            <a:endParaRPr lang="en-US" sz="1300" dirty="0"/>
          </a:p>
        </p:txBody>
      </p:sp>
      <p:sp>
        <p:nvSpPr>
          <p:cNvPr id="4" name="Shape 2"/>
          <p:cNvSpPr/>
          <p:nvPr/>
        </p:nvSpPr>
        <p:spPr>
          <a:xfrm>
            <a:off x="640080" y="1463040"/>
            <a:ext cx="3657600" cy="2560320"/>
          </a:xfrm>
          <a:prstGeom prst="rect">
            <a:avLst/>
          </a:prstGeom>
          <a:solidFill>
            <a:srgbClr val="0D9488">
              <a:alpha val="15000"/>
            </a:srgbClr>
          </a:solidFill>
          <a:ln w="19050">
            <a:solidFill>
              <a:srgbClr val="0D9488"/>
            </a:solidFill>
            <a:prstDash val="solid"/>
          </a:ln>
        </p:spPr>
      </p:sp>
      <p:pic>
        <p:nvPicPr>
          <p:cNvPr id="5" name="Image 0" descr="preencoded.png">    </p:cNvPr>
          <p:cNvPicPr>
            <a:picLocks noChangeAspect="1"/>
          </p:cNvPicPr>
          <p:nvPr/>
        </p:nvPicPr>
        <p:blipFill>
          <a:blip r:embed="rId1"/>
          <a:stretch>
            <a:fillRect/>
          </a:stretch>
        </p:blipFill>
        <p:spPr>
          <a:xfrm>
            <a:off x="914400" y="1691640"/>
            <a:ext cx="320040" cy="320040"/>
          </a:xfrm>
          <a:prstGeom prst="rect">
            <a:avLst/>
          </a:prstGeom>
        </p:spPr>
      </p:pic>
      <p:sp>
        <p:nvSpPr>
          <p:cNvPr id="6" name="Text 3"/>
          <p:cNvSpPr/>
          <p:nvPr/>
        </p:nvSpPr>
        <p:spPr>
          <a:xfrm>
            <a:off x="1371600" y="1645920"/>
            <a:ext cx="2743200" cy="36576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Supply Chain Collector</a:t>
            </a:r>
            <a:endParaRPr lang="en-US" sz="1500" dirty="0"/>
          </a:p>
        </p:txBody>
      </p:sp>
      <p:sp>
        <p:nvSpPr>
          <p:cNvPr id="7" name="Text 4"/>
          <p:cNvSpPr/>
          <p:nvPr/>
        </p:nvSpPr>
        <p:spPr>
          <a:xfrm>
            <a:off x="914400" y="2194560"/>
            <a:ext cx="3108960" cy="1645920"/>
          </a:xfrm>
          <a:prstGeom prst="rect">
            <a:avLst/>
          </a:prstGeom>
          <a:noFill/>
          <a:ln/>
        </p:spPr>
        <p:txBody>
          <a:bodyPr wrap="square" rtlCol="0" anchor="ctr"/>
          <a:lstStyle/>
          <a:p>
            <a:pPr marL="342900" indent="-342900">
              <a:spcAft>
                <a:spcPts val="800"/>
              </a:spcAft>
              <a:buSzPct val="100000"/>
              <a:buChar char="•"/>
            </a:pPr>
            <a:r>
              <a:rPr lang="en-US" sz="1100" dirty="0">
                <a:solidFill>
                  <a:srgbClr val="E2E8F0"/>
                </a:solidFill>
                <a:latin typeface="Calibri" pitchFamily="34" charset="0"/>
                <a:ea typeface="Calibri" pitchFamily="34" charset="-122"/>
                <a:cs typeface="Calibri" pitchFamily="34" charset="-120"/>
              </a:rPr>
              <a:t>Who produces SBOMs?</a:t>
            </a:r>
            <a:endParaRPr lang="en-US" sz="1100" dirty="0"/>
          </a:p>
          <a:p>
            <a:pPr marL="342900" indent="-342900">
              <a:spcAft>
                <a:spcPts val="800"/>
              </a:spcAft>
              <a:buSzPct val="100000"/>
              <a:buChar char="•"/>
            </a:pPr>
            <a:r>
              <a:rPr lang="en-US" sz="1100" dirty="0">
                <a:solidFill>
                  <a:srgbClr val="E2E8F0"/>
                </a:solidFill>
                <a:latin typeface="Calibri" pitchFamily="34" charset="0"/>
                <a:ea typeface="Calibri" pitchFamily="34" charset="-122"/>
                <a:cs typeface="Calibri" pitchFamily="34" charset="-120"/>
              </a:rPr>
              <a:t>Who signs releases?</a:t>
            </a:r>
            <a:endParaRPr lang="en-US" sz="1100" dirty="0"/>
          </a:p>
          <a:p>
            <a:pPr marL="342900" indent="-342900">
              <a:spcAft>
                <a:spcPts val="800"/>
              </a:spcAft>
              <a:buSzPct val="100000"/>
              <a:buChar char="•"/>
            </a:pPr>
            <a:r>
              <a:rPr lang="en-US" sz="1100" dirty="0">
                <a:solidFill>
                  <a:srgbClr val="E2E8F0"/>
                </a:solidFill>
                <a:latin typeface="Calibri" pitchFamily="34" charset="0"/>
                <a:ea typeface="Calibri" pitchFamily="34" charset="-122"/>
                <a:cs typeface="Calibri" pitchFamily="34" charset="-120"/>
              </a:rPr>
              <a:t>What tools are in CI pipelines?</a:t>
            </a:r>
            <a:endParaRPr lang="en-US" sz="1100" dirty="0"/>
          </a:p>
          <a:p>
            <a:pPr marL="342900" indent="-342900">
              <a:spcAft>
                <a:spcPts val="800"/>
              </a:spcAft>
              <a:buSzPct val="100000"/>
              <a:buChar char="•"/>
            </a:pPr>
            <a:r>
              <a:rPr lang="en-US" sz="1100" dirty="0">
                <a:solidFill>
                  <a:srgbClr val="E2E8F0"/>
                </a:solidFill>
                <a:latin typeface="Calibri" pitchFamily="34" charset="0"/>
                <a:ea typeface="Calibri" pitchFamily="34" charset="-122"/>
                <a:cs typeface="Calibri" pitchFamily="34" charset="-120"/>
              </a:rPr>
              <a:t>Where are the gaps?</a:t>
            </a:r>
            <a:endParaRPr lang="en-US" sz="1100" dirty="0"/>
          </a:p>
        </p:txBody>
      </p:sp>
      <p:sp>
        <p:nvSpPr>
          <p:cNvPr id="8" name="Text 5"/>
          <p:cNvSpPr/>
          <p:nvPr/>
        </p:nvSpPr>
        <p:spPr>
          <a:xfrm>
            <a:off x="4297680" y="2194560"/>
            <a:ext cx="548640" cy="914400"/>
          </a:xfrm>
          <a:prstGeom prst="rect">
            <a:avLst/>
          </a:prstGeom>
          <a:noFill/>
          <a:ln/>
        </p:spPr>
        <p:txBody>
          <a:bodyPr wrap="square" rtlCol="0" anchor="ctr"/>
          <a:lstStyle/>
          <a:p>
            <a:pPr algn="ctr" indent="0" marL="0">
              <a:buNone/>
            </a:pPr>
            <a:r>
              <a:rPr lang="en-US" sz="3600" dirty="0">
                <a:solidFill>
                  <a:srgbClr val="0D9488"/>
                </a:solidFill>
                <a:latin typeface="Trebuchet MS" pitchFamily="34" charset="0"/>
                <a:ea typeface="Trebuchet MS" pitchFamily="34" charset="-122"/>
                <a:cs typeface="Trebuchet MS" pitchFamily="34" charset="-120"/>
              </a:rPr>
              <a:t>+</a:t>
            </a:r>
            <a:endParaRPr lang="en-US" sz="3600" dirty="0"/>
          </a:p>
        </p:txBody>
      </p:sp>
      <p:sp>
        <p:nvSpPr>
          <p:cNvPr id="9" name="Shape 6"/>
          <p:cNvSpPr/>
          <p:nvPr/>
        </p:nvSpPr>
        <p:spPr>
          <a:xfrm>
            <a:off x="4846320" y="1463040"/>
            <a:ext cx="3657600" cy="2560320"/>
          </a:xfrm>
          <a:prstGeom prst="rect">
            <a:avLst/>
          </a:prstGeom>
          <a:solidFill>
            <a:srgbClr val="14B8A6">
              <a:alpha val="15000"/>
            </a:srgbClr>
          </a:solidFill>
          <a:ln w="19050">
            <a:solidFill>
              <a:srgbClr val="14B8A6"/>
            </a:solidFill>
            <a:prstDash val="solid"/>
          </a:ln>
        </p:spPr>
      </p:sp>
      <p:pic>
        <p:nvPicPr>
          <p:cNvPr id="10" name="Image 1" descr="preencoded.png">    </p:cNvPr>
          <p:cNvPicPr>
            <a:picLocks noChangeAspect="1"/>
          </p:cNvPicPr>
          <p:nvPr/>
        </p:nvPicPr>
        <p:blipFill>
          <a:blip r:embed="rId2"/>
          <a:stretch>
            <a:fillRect/>
          </a:stretch>
        </p:blipFill>
        <p:spPr>
          <a:xfrm>
            <a:off x="5120640" y="1691640"/>
            <a:ext cx="320040" cy="320040"/>
          </a:xfrm>
          <a:prstGeom prst="rect">
            <a:avLst/>
          </a:prstGeom>
        </p:spPr>
      </p:pic>
      <p:sp>
        <p:nvSpPr>
          <p:cNvPr id="11" name="Text 7"/>
          <p:cNvSpPr/>
          <p:nvPr/>
        </p:nvSpPr>
        <p:spPr>
          <a:xfrm>
            <a:off x="5577840" y="1645920"/>
            <a:ext cx="2743200" cy="365760"/>
          </a:xfrm>
          <a:prstGeom prst="rect">
            <a:avLst/>
          </a:prstGeom>
          <a:noFill/>
          <a:ln/>
        </p:spPr>
        <p:txBody>
          <a:bodyPr wrap="square" lIns="0" tIns="0" rIns="0" bIns="0" rtlCol="0" anchor="ct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GUAC</a:t>
            </a:r>
            <a:endParaRPr lang="en-US" sz="1500" dirty="0"/>
          </a:p>
        </p:txBody>
      </p:sp>
      <p:sp>
        <p:nvSpPr>
          <p:cNvPr id="12" name="Text 8"/>
          <p:cNvSpPr/>
          <p:nvPr/>
        </p:nvSpPr>
        <p:spPr>
          <a:xfrm>
            <a:off x="5120640" y="2194560"/>
            <a:ext cx="3108960" cy="1645920"/>
          </a:xfrm>
          <a:prstGeom prst="rect">
            <a:avLst/>
          </a:prstGeom>
          <a:noFill/>
          <a:ln/>
        </p:spPr>
        <p:txBody>
          <a:bodyPr wrap="square" rtlCol="0" anchor="ctr"/>
          <a:lstStyle/>
          <a:p>
            <a:pPr marL="342900" indent="-342900">
              <a:spcAft>
                <a:spcPts val="800"/>
              </a:spcAft>
              <a:buSzPct val="100000"/>
              <a:buChar char="•"/>
            </a:pPr>
            <a:r>
              <a:rPr lang="en-US" sz="1100" dirty="0">
                <a:solidFill>
                  <a:srgbClr val="E2E8F0"/>
                </a:solidFill>
                <a:latin typeface="Calibri" pitchFamily="34" charset="0"/>
                <a:ea typeface="Calibri" pitchFamily="34" charset="-122"/>
                <a:cs typeface="Calibri" pitchFamily="34" charset="-120"/>
              </a:rPr>
              <a:t>How do dependencies connect?</a:t>
            </a:r>
            <a:endParaRPr lang="en-US" sz="1100" dirty="0"/>
          </a:p>
          <a:p>
            <a:pPr marL="342900" indent="-342900">
              <a:spcAft>
                <a:spcPts val="800"/>
              </a:spcAft>
              <a:buSzPct val="100000"/>
              <a:buChar char="•"/>
            </a:pPr>
            <a:r>
              <a:rPr lang="en-US" sz="1100" dirty="0">
                <a:solidFill>
                  <a:srgbClr val="E2E8F0"/>
                </a:solidFill>
                <a:latin typeface="Calibri" pitchFamily="34" charset="0"/>
                <a:ea typeface="Calibri" pitchFamily="34" charset="-122"/>
                <a:cs typeface="Calibri" pitchFamily="34" charset="-120"/>
              </a:rPr>
              <a:t>What vulnerabilities affect what?</a:t>
            </a:r>
            <a:endParaRPr lang="en-US" sz="1100" dirty="0"/>
          </a:p>
          <a:p>
            <a:pPr marL="342900" indent="-342900">
              <a:spcAft>
                <a:spcPts val="800"/>
              </a:spcAft>
              <a:buSzPct val="100000"/>
              <a:buChar char="•"/>
            </a:pPr>
            <a:r>
              <a:rPr lang="en-US" sz="1100" dirty="0">
                <a:solidFill>
                  <a:srgbClr val="E2E8F0"/>
                </a:solidFill>
                <a:latin typeface="Calibri" pitchFamily="34" charset="0"/>
                <a:ea typeface="Calibri" pitchFamily="34" charset="-122"/>
                <a:cs typeface="Calibri" pitchFamily="34" charset="-120"/>
              </a:rPr>
              <a:t>End-to-end supply chain graph</a:t>
            </a:r>
            <a:endParaRPr lang="en-US" sz="1100" dirty="0"/>
          </a:p>
          <a:p>
            <a:pPr marL="342900" indent="-342900">
              <a:spcAft>
                <a:spcPts val="800"/>
              </a:spcAft>
              <a:buSzPct val="100000"/>
              <a:buChar char="•"/>
            </a:pPr>
            <a:r>
              <a:rPr lang="en-US" sz="1100" dirty="0">
                <a:solidFill>
                  <a:srgbClr val="E2E8F0"/>
                </a:solidFill>
                <a:latin typeface="Calibri" pitchFamily="34" charset="0"/>
                <a:ea typeface="Calibri" pitchFamily="34" charset="-122"/>
                <a:cs typeface="Calibri" pitchFamily="34" charset="-120"/>
              </a:rPr>
              <a:t>Policy queries at scale</a:t>
            </a:r>
            <a:endParaRPr lang="en-US" sz="1100" dirty="0"/>
          </a:p>
        </p:txBody>
      </p:sp>
      <p:sp>
        <p:nvSpPr>
          <p:cNvPr id="13" name="Text 9"/>
          <p:cNvSpPr/>
          <p:nvPr/>
        </p:nvSpPr>
        <p:spPr>
          <a:xfrm>
            <a:off x="640080" y="4206240"/>
            <a:ext cx="7772400" cy="54864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Collector answers: who is producing supply chain metadata?</a:t>
            </a:r>
            <a:endParaRPr lang="en-US" sz="1100" dirty="0"/>
          </a:p>
          <a:p>
            <a:pPr indent="0" marL="0">
              <a:buNone/>
            </a:pPr>
            <a:r>
              <a:rPr lang="en-US" sz="1100" dirty="0">
                <a:solidFill>
                  <a:srgbClr val="64748B"/>
                </a:solidFill>
                <a:latin typeface="Calibri" pitchFamily="34" charset="0"/>
                <a:ea typeface="Calibri" pitchFamily="34" charset="-122"/>
                <a:cs typeface="Calibri" pitchFamily="34" charset="-120"/>
              </a:rPr>
              <a:t>GUAC answers: how does that metadata connect across the ecosystem?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65760"/>
            <a:ext cx="7772400" cy="50292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Projects Leading the Way</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051560"/>
          <a:ext cx="7863840" cy="914400"/>
        </p:xfrm>
        <a:graphic>
          <a:graphicData uri="http://schemas.openxmlformats.org/drawingml/2006/table">
            <a:tbl>
              <a:tblPr/>
              <a:tblGrid>
                <a:gridCol w="1645920"/>
                <a:gridCol w="1280160"/>
                <a:gridCol w="914400"/>
                <a:gridCol w="1097280"/>
                <a:gridCol w="2926080"/>
              </a:tblGrid>
              <a:tr h="36576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Project</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B4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Maturity</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B4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SBOMs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B4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Signatures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B4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Key Tools</a:t>
                      </a:r>
                      <a:endParaRPr lang="en-US" sz="11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2B46"/>
                    </a:solidFill>
                  </a:tcPr>
                </a:tc>
              </a:tr>
              <a:tr h="34747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Flux</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Graduated</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SLSA Generator</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4747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OpenFGA</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Incubating</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GoReleaser, CodeQL</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34747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KubeVela</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Incubating</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Trivy, CodeQL</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4747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CloudNativePG</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Sandbox</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GoReleaser</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r h="34747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SOPS</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Sandbox</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GoReleaser, CodeQL</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r>
              <a:tr h="347472">
                <a:tc>
                  <a:txBody>
                    <a:bodyPr/>
                    <a:lstStyle/>
                    <a:p>
                      <a:pPr indent="0" marL="0">
                        <a:buNone/>
                      </a:pPr>
                      <a:r>
                        <a:rPr lang="en-US" sz="1000" b="1" dirty="0">
                          <a:solidFill>
                            <a:srgbClr val="0F172A"/>
                          </a:solidFill>
                          <a:latin typeface="Calibri" pitchFamily="34" charset="0"/>
                          <a:ea typeface="Calibri" pitchFamily="34" charset="-122"/>
                          <a:cs typeface="Calibri" pitchFamily="34" charset="-120"/>
                        </a:rPr>
                        <a:t>k0s</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Sandbox</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22C55E"/>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000" dirty="0">
                          <a:solidFill>
                            <a:srgbClr val="0F172A"/>
                          </a:solidFill>
                          <a:latin typeface="Calibri" pitchFamily="34" charset="0"/>
                          <a:ea typeface="Calibri" pitchFamily="34" charset="-122"/>
                          <a:cs typeface="Calibri" pitchFamily="34" charset="-120"/>
                        </a:rPr>
                        <a:t>SLSA Generator</a:t>
                      </a:r>
                      <a:endParaRPr lang="en-US" sz="1000" dirty="0">
                        <a:latin typeface="Calibri" charset="0"/>
                        <a:ea typeface="Calibri" charset="0"/>
                        <a:cs typeface="Calibri" charset="0"/>
                      </a:endParaRPr>
                    </a:p>
                  </a:txBody>
                  <a:tcPr marL="91440" marR="91440" marT="45720" marB="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1F5F9"/>
                    </a:solidFill>
                  </a:tcPr>
                </a:tc>
              </a:tr>
            </a:tbl>
          </a:graphicData>
        </a:graphic>
      </p:graphicFrame>
      <p:sp>
        <p:nvSpPr>
          <p:cNvPr id="4" name="Text 1"/>
          <p:cNvSpPr/>
          <p:nvPr/>
        </p:nvSpPr>
        <p:spPr>
          <a:xfrm>
            <a:off x="640080" y="4206240"/>
            <a:ext cx="7772400" cy="320040"/>
          </a:xfrm>
          <a:prstGeom prst="rect">
            <a:avLst/>
          </a:prstGeom>
          <a:noFill/>
          <a:ln/>
        </p:spPr>
        <p:txBody>
          <a:bodyPr wrap="square" rtlCol="0" anchor="ctr"/>
          <a:lstStyle/>
          <a:p>
            <a:pPr indent="0" marL="0">
              <a:buNone/>
            </a:pPr>
            <a:r>
              <a:rPr lang="en-US" sz="1100" i="1" dirty="0">
                <a:solidFill>
                  <a:srgbClr val="475569"/>
                </a:solidFill>
                <a:latin typeface="Calibri" pitchFamily="34" charset="0"/>
                <a:ea typeface="Calibri" pitchFamily="34" charset="-122"/>
                <a:cs typeface="Calibri" pitchFamily="34" charset="-120"/>
              </a:rPr>
              <a:t>10 projects across the landscape ship both SBOMs and signed releases. These are the models to follow.</a:t>
            </a:r>
            <a:endParaRPr lang="en-US" sz="1100" dirty="0"/>
          </a:p>
        </p:txBody>
      </p:sp>
      <p:sp>
        <p:nvSpPr>
          <p:cNvPr id="5" name="Shape 2"/>
          <p:cNvSpPr/>
          <p:nvPr/>
        </p:nvSpPr>
        <p:spPr>
          <a:xfrm>
            <a:off x="0" y="4892040"/>
            <a:ext cx="9144000" cy="251460"/>
          </a:xfrm>
          <a:prstGeom prst="rect">
            <a:avLst/>
          </a:prstGeom>
          <a:solidFill>
            <a:srgbClr val="0F2B46"/>
          </a:solidFill>
          <a:ln/>
        </p:spPr>
      </p:sp>
      <p:sp>
        <p:nvSpPr>
          <p:cNvPr id="6" name="Text 3"/>
          <p:cNvSpPr/>
          <p:nvPr/>
        </p:nvSpPr>
        <p:spPr>
          <a:xfrm>
            <a:off x="457200" y="4892040"/>
            <a:ext cx="8229600" cy="25146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CNCF Supply Chain Security Analysis  |  March 2026</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65760"/>
            <a:ext cx="7772400" cy="50292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Making This Repeatable</a:t>
            </a:r>
            <a:endParaRPr lang="en-US" sz="2400" dirty="0"/>
          </a:p>
        </p:txBody>
      </p:sp>
      <p:sp>
        <p:nvSpPr>
          <p:cNvPr id="3" name="Text 1"/>
          <p:cNvSpPr/>
          <p:nvPr/>
        </p:nvSpPr>
        <p:spPr>
          <a:xfrm>
            <a:off x="640080" y="822960"/>
            <a:ext cx="7772400" cy="320040"/>
          </a:xfrm>
          <a:prstGeom prst="rect">
            <a:avLst/>
          </a:prstGeom>
          <a:noFill/>
          <a:ln/>
        </p:spPr>
        <p:txBody>
          <a:bodyPr wrap="square"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Three contribution paths into the CNCF ecosystem</a:t>
            </a:r>
            <a:endParaRPr lang="en-US" sz="1300" dirty="0"/>
          </a:p>
        </p:txBody>
      </p:sp>
      <p:sp>
        <p:nvSpPr>
          <p:cNvPr id="4" name="Shape 2"/>
          <p:cNvSpPr/>
          <p:nvPr/>
        </p:nvSpPr>
        <p:spPr>
          <a:xfrm>
            <a:off x="640080" y="1371600"/>
            <a:ext cx="2468880" cy="27432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5" name="Shape 3"/>
          <p:cNvSpPr/>
          <p:nvPr/>
        </p:nvSpPr>
        <p:spPr>
          <a:xfrm>
            <a:off x="822960" y="1554480"/>
            <a:ext cx="411480" cy="411480"/>
          </a:xfrm>
          <a:prstGeom prst="ellipse">
            <a:avLst/>
          </a:prstGeom>
          <a:solidFill>
            <a:srgbClr val="0D9488"/>
          </a:solidFill>
          <a:ln/>
        </p:spPr>
      </p:sp>
      <p:sp>
        <p:nvSpPr>
          <p:cNvPr id="6" name="Text 4"/>
          <p:cNvSpPr/>
          <p:nvPr/>
        </p:nvSpPr>
        <p:spPr>
          <a:xfrm>
            <a:off x="822960" y="1554480"/>
            <a:ext cx="411480" cy="41148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7" name="Text 5"/>
          <p:cNvSpPr/>
          <p:nvPr/>
        </p:nvSpPr>
        <p:spPr>
          <a:xfrm>
            <a:off x="822960" y="2103120"/>
            <a:ext cx="2103120" cy="640080"/>
          </a:xfrm>
          <a:prstGeom prst="rect">
            <a:avLst/>
          </a:prstGeom>
          <a:noFill/>
          <a:ln/>
        </p:spPr>
        <p:txBody>
          <a:bodyPr wrap="square" lIns="0" tIns="0" rIns="0" bIns="0" rtlCol="0" anchor="ctr"/>
          <a:lstStyle/>
          <a:p>
            <a:pPr indent="0" marL="0">
              <a:buNone/>
            </a:pPr>
            <a:r>
              <a:rPr lang="en-US" sz="1300" b="1" dirty="0">
                <a:solidFill>
                  <a:srgbClr val="0F2B46"/>
                </a:solidFill>
                <a:latin typeface="Trebuchet MS" pitchFamily="34" charset="0"/>
                <a:ea typeface="Trebuchet MS" pitchFamily="34" charset="-122"/>
                <a:cs typeface="Trebuchet MS" pitchFamily="34" charset="-120"/>
              </a:rPr>
              <a:t>TAG Security</a:t>
            </a:r>
            <a:endParaRPr lang="en-US" sz="1300" dirty="0"/>
          </a:p>
          <a:p>
            <a:pPr indent="0" marL="0">
              <a:buNone/>
            </a:pPr>
            <a:r>
              <a:rPr lang="en-US" sz="1300" b="1" dirty="0">
                <a:solidFill>
                  <a:srgbClr val="0F2B46"/>
                </a:solidFill>
                <a:latin typeface="Trebuchet MS" pitchFamily="34" charset="0"/>
                <a:ea typeface="Trebuchet MS" pitchFamily="34" charset="-122"/>
                <a:cs typeface="Trebuchet MS" pitchFamily="34" charset="-120"/>
              </a:rPr>
              <a:t>Landscape Assessment</a:t>
            </a:r>
            <a:endParaRPr lang="en-US" sz="1300" dirty="0"/>
          </a:p>
        </p:txBody>
      </p:sp>
      <p:sp>
        <p:nvSpPr>
          <p:cNvPr id="8" name="Text 6"/>
          <p:cNvSpPr/>
          <p:nvPr/>
        </p:nvSpPr>
        <p:spPr>
          <a:xfrm>
            <a:off x="822960" y="2788920"/>
            <a:ext cx="2103120" cy="73152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Detection methodology + recurring landscape assessment as a TAG Security work item</a:t>
            </a:r>
            <a:endParaRPr lang="en-US" sz="1000" dirty="0"/>
          </a:p>
        </p:txBody>
      </p:sp>
      <p:sp>
        <p:nvSpPr>
          <p:cNvPr id="9" name="Shape 7"/>
          <p:cNvSpPr/>
          <p:nvPr/>
        </p:nvSpPr>
        <p:spPr>
          <a:xfrm>
            <a:off x="822960" y="3657600"/>
            <a:ext cx="2103120" cy="274320"/>
          </a:xfrm>
          <a:prstGeom prst="rect">
            <a:avLst/>
          </a:prstGeom>
          <a:solidFill>
            <a:srgbClr val="22C55E">
              <a:alpha val="15000"/>
            </a:srgbClr>
          </a:solidFill>
          <a:ln w="6350">
            <a:solidFill>
              <a:srgbClr val="22C55E"/>
            </a:solidFill>
            <a:prstDash val="solid"/>
          </a:ln>
        </p:spPr>
      </p:sp>
      <p:sp>
        <p:nvSpPr>
          <p:cNvPr id="10" name="Text 8"/>
          <p:cNvSpPr/>
          <p:nvPr/>
        </p:nvSpPr>
        <p:spPr>
          <a:xfrm>
            <a:off x="822960" y="3657600"/>
            <a:ext cx="2103120" cy="274320"/>
          </a:xfrm>
          <a:prstGeom prst="rect">
            <a:avLst/>
          </a:prstGeom>
          <a:noFill/>
          <a:ln/>
        </p:spPr>
        <p:txBody>
          <a:bodyPr wrap="square" rtlCol="0" anchor="ctr"/>
          <a:lstStyle/>
          <a:p>
            <a:pPr algn="ctr" indent="0" marL="0">
              <a:buNone/>
            </a:pPr>
            <a:r>
              <a:rPr lang="en-US" sz="900" b="1" dirty="0">
                <a:solidFill>
                  <a:srgbClr val="22C55E"/>
                </a:solidFill>
                <a:latin typeface="Calibri" pitchFamily="34" charset="0"/>
                <a:ea typeface="Calibri" pitchFamily="34" charset="-122"/>
                <a:cs typeface="Calibri" pitchFamily="34" charset="-120"/>
              </a:rPr>
              <a:t>Proposal ready</a:t>
            </a:r>
            <a:endParaRPr lang="en-US" sz="900" dirty="0"/>
          </a:p>
        </p:txBody>
      </p:sp>
      <p:sp>
        <p:nvSpPr>
          <p:cNvPr id="11" name="Shape 9"/>
          <p:cNvSpPr/>
          <p:nvPr/>
        </p:nvSpPr>
        <p:spPr>
          <a:xfrm>
            <a:off x="3429000" y="1371600"/>
            <a:ext cx="2468880" cy="27432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2" name="Shape 10"/>
          <p:cNvSpPr/>
          <p:nvPr/>
        </p:nvSpPr>
        <p:spPr>
          <a:xfrm>
            <a:off x="3611880" y="1554480"/>
            <a:ext cx="411480" cy="411480"/>
          </a:xfrm>
          <a:prstGeom prst="ellipse">
            <a:avLst/>
          </a:prstGeom>
          <a:solidFill>
            <a:srgbClr val="0D9488"/>
          </a:solidFill>
          <a:ln/>
        </p:spPr>
      </p:sp>
      <p:sp>
        <p:nvSpPr>
          <p:cNvPr id="13" name="Text 11"/>
          <p:cNvSpPr/>
          <p:nvPr/>
        </p:nvSpPr>
        <p:spPr>
          <a:xfrm>
            <a:off x="3611880" y="1554480"/>
            <a:ext cx="411480" cy="41148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4" name="Text 12"/>
          <p:cNvSpPr/>
          <p:nvPr/>
        </p:nvSpPr>
        <p:spPr>
          <a:xfrm>
            <a:off x="3611880" y="2103120"/>
            <a:ext cx="2103120" cy="640080"/>
          </a:xfrm>
          <a:prstGeom prst="rect">
            <a:avLst/>
          </a:prstGeom>
          <a:noFill/>
          <a:ln/>
        </p:spPr>
        <p:txBody>
          <a:bodyPr wrap="square" lIns="0" tIns="0" rIns="0" bIns="0" rtlCol="0" anchor="ctr"/>
          <a:lstStyle/>
          <a:p>
            <a:pPr indent="0" marL="0">
              <a:buNone/>
            </a:pPr>
            <a:r>
              <a:rPr lang="en-US" sz="1300" b="1" dirty="0">
                <a:solidFill>
                  <a:srgbClr val="0F2B46"/>
                </a:solidFill>
                <a:latin typeface="Trebuchet MS" pitchFamily="34" charset="0"/>
                <a:ea typeface="Trebuchet MS" pitchFamily="34" charset="-122"/>
                <a:cs typeface="Trebuchet MS" pitchFamily="34" charset="-120"/>
              </a:rPr>
              <a:t>CLOMonitor</a:t>
            </a:r>
            <a:endParaRPr lang="en-US" sz="1300" dirty="0"/>
          </a:p>
          <a:p>
            <a:pPr indent="0" marL="0">
              <a:buNone/>
            </a:pPr>
            <a:r>
              <a:rPr lang="en-US" sz="1300" b="1" dirty="0">
                <a:solidFill>
                  <a:srgbClr val="0F2B46"/>
                </a:solidFill>
                <a:latin typeface="Trebuchet MS" pitchFamily="34" charset="0"/>
                <a:ea typeface="Trebuchet MS" pitchFamily="34" charset="-122"/>
                <a:cs typeface="Trebuchet MS" pitchFamily="34" charset="-120"/>
              </a:rPr>
              <a:t>Behavioral Checks</a:t>
            </a:r>
            <a:endParaRPr lang="en-US" sz="1300" dirty="0"/>
          </a:p>
        </p:txBody>
      </p:sp>
      <p:sp>
        <p:nvSpPr>
          <p:cNvPr id="15" name="Text 13"/>
          <p:cNvSpPr/>
          <p:nvPr/>
        </p:nvSpPr>
        <p:spPr>
          <a:xfrm>
            <a:off x="3611880" y="2788920"/>
            <a:ext cx="2103120" cy="73152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Supply chain behavioral checks extending CLOMonitor's existing framework</a:t>
            </a:r>
            <a:endParaRPr lang="en-US" sz="1000" dirty="0"/>
          </a:p>
        </p:txBody>
      </p:sp>
      <p:sp>
        <p:nvSpPr>
          <p:cNvPr id="16" name="Shape 14"/>
          <p:cNvSpPr/>
          <p:nvPr/>
        </p:nvSpPr>
        <p:spPr>
          <a:xfrm>
            <a:off x="3611880" y="3657600"/>
            <a:ext cx="2103120" cy="274320"/>
          </a:xfrm>
          <a:prstGeom prst="rect">
            <a:avLst/>
          </a:prstGeom>
          <a:solidFill>
            <a:srgbClr val="F59E0B">
              <a:alpha val="15000"/>
            </a:srgbClr>
          </a:solidFill>
          <a:ln w="6350">
            <a:solidFill>
              <a:srgbClr val="F59E0B"/>
            </a:solidFill>
            <a:prstDash val="solid"/>
          </a:ln>
        </p:spPr>
      </p:sp>
      <p:sp>
        <p:nvSpPr>
          <p:cNvPr id="17" name="Text 15"/>
          <p:cNvSpPr/>
          <p:nvPr/>
        </p:nvSpPr>
        <p:spPr>
          <a:xfrm>
            <a:off x="3611880" y="3657600"/>
            <a:ext cx="2103120" cy="274320"/>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Design spec drafted</a:t>
            </a:r>
            <a:endParaRPr lang="en-US" sz="900" dirty="0"/>
          </a:p>
        </p:txBody>
      </p:sp>
      <p:sp>
        <p:nvSpPr>
          <p:cNvPr id="18" name="Shape 16"/>
          <p:cNvSpPr/>
          <p:nvPr/>
        </p:nvSpPr>
        <p:spPr>
          <a:xfrm>
            <a:off x="6217920" y="1371600"/>
            <a:ext cx="2468880" cy="2743200"/>
          </a:xfrm>
          <a:prstGeom prst="rect">
            <a:avLst/>
          </a:prstGeom>
          <a:solidFill>
            <a:srgbClr val="FFFFFF"/>
          </a:solidFill>
          <a:ln/>
          <a:effectLst>
            <a:outerShdw sx="100000" sy="100000" kx="0" ky="0" algn="bl" rotWithShape="0" blurRad="50800" dist="12700" dir="8100000">
              <a:srgbClr val="000000">
                <a:alpha val="8000"/>
              </a:srgbClr>
            </a:outerShdw>
          </a:effectLst>
        </p:spPr>
      </p:sp>
      <p:sp>
        <p:nvSpPr>
          <p:cNvPr id="19" name="Shape 17"/>
          <p:cNvSpPr/>
          <p:nvPr/>
        </p:nvSpPr>
        <p:spPr>
          <a:xfrm>
            <a:off x="6400800" y="1554480"/>
            <a:ext cx="411480" cy="411480"/>
          </a:xfrm>
          <a:prstGeom prst="ellipse">
            <a:avLst/>
          </a:prstGeom>
          <a:solidFill>
            <a:srgbClr val="0D9488"/>
          </a:solidFill>
          <a:ln/>
        </p:spPr>
      </p:sp>
      <p:sp>
        <p:nvSpPr>
          <p:cNvPr id="20" name="Text 18"/>
          <p:cNvSpPr/>
          <p:nvPr/>
        </p:nvSpPr>
        <p:spPr>
          <a:xfrm>
            <a:off x="6400800" y="1554480"/>
            <a:ext cx="411480" cy="411480"/>
          </a:xfrm>
          <a:prstGeom prst="rect">
            <a:avLst/>
          </a:prstGeom>
          <a:noFill/>
          <a:ln/>
        </p:spPr>
        <p:txBody>
          <a:bodyPr wrap="square" rtlCol="0" anchor="ctr"/>
          <a:lstStyle/>
          <a:p>
            <a:pPr algn="ctr" indent="0" marL="0">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21" name="Text 19"/>
          <p:cNvSpPr/>
          <p:nvPr/>
        </p:nvSpPr>
        <p:spPr>
          <a:xfrm>
            <a:off x="6400800" y="2103120"/>
            <a:ext cx="2103120" cy="640080"/>
          </a:xfrm>
          <a:prstGeom prst="rect">
            <a:avLst/>
          </a:prstGeom>
          <a:noFill/>
          <a:ln/>
        </p:spPr>
        <p:txBody>
          <a:bodyPr wrap="square" lIns="0" tIns="0" rIns="0" bIns="0" rtlCol="0" anchor="ctr"/>
          <a:lstStyle/>
          <a:p>
            <a:pPr indent="0" marL="0">
              <a:buNone/>
            </a:pPr>
            <a:r>
              <a:rPr lang="en-US" sz="1300" b="1" dirty="0">
                <a:solidFill>
                  <a:srgbClr val="0F2B46"/>
                </a:solidFill>
                <a:latin typeface="Trebuchet MS" pitchFamily="34" charset="0"/>
                <a:ea typeface="Trebuchet MS" pitchFamily="34" charset="-122"/>
                <a:cs typeface="Trebuchet MS" pitchFamily="34" charset="-120"/>
              </a:rPr>
              <a:t>Open Dataset</a:t>
            </a:r>
            <a:endParaRPr lang="en-US" sz="1300" dirty="0"/>
          </a:p>
          <a:p>
            <a:pPr indent="0" marL="0">
              <a:buNone/>
            </a:pPr>
            <a:r>
              <a:rPr lang="en-US" sz="1300" b="1" dirty="0">
                <a:solidFill>
                  <a:srgbClr val="0F2B46"/>
                </a:solidFill>
                <a:latin typeface="Trebuchet MS" pitchFamily="34" charset="0"/>
                <a:ea typeface="Trebuchet MS" pitchFamily="34" charset="-122"/>
                <a:cs typeface="Trebuchet MS" pitchFamily="34" charset="-120"/>
              </a:rPr>
              <a:t>(Parquet)</a:t>
            </a:r>
            <a:endParaRPr lang="en-US" sz="1300" dirty="0"/>
          </a:p>
        </p:txBody>
      </p:sp>
      <p:sp>
        <p:nvSpPr>
          <p:cNvPr id="22" name="Text 20"/>
          <p:cNvSpPr/>
          <p:nvPr/>
        </p:nvSpPr>
        <p:spPr>
          <a:xfrm>
            <a:off x="6400800" y="2788920"/>
            <a:ext cx="2103120" cy="73152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Full landscape data in Parquet format, queryable by anyone with DuckDB or SQL</a:t>
            </a:r>
            <a:endParaRPr lang="en-US" sz="1000" dirty="0"/>
          </a:p>
        </p:txBody>
      </p:sp>
      <p:sp>
        <p:nvSpPr>
          <p:cNvPr id="23" name="Shape 21"/>
          <p:cNvSpPr/>
          <p:nvPr/>
        </p:nvSpPr>
        <p:spPr>
          <a:xfrm>
            <a:off x="6400800" y="3657600"/>
            <a:ext cx="2103120" cy="274320"/>
          </a:xfrm>
          <a:prstGeom prst="rect">
            <a:avLst/>
          </a:prstGeom>
          <a:solidFill>
            <a:srgbClr val="0D9488">
              <a:alpha val="15000"/>
            </a:srgbClr>
          </a:solidFill>
          <a:ln w="6350">
            <a:solidFill>
              <a:srgbClr val="0D9488"/>
            </a:solidFill>
            <a:prstDash val="solid"/>
          </a:ln>
        </p:spPr>
      </p:sp>
      <p:sp>
        <p:nvSpPr>
          <p:cNvPr id="24" name="Text 22"/>
          <p:cNvSpPr/>
          <p:nvPr/>
        </p:nvSpPr>
        <p:spPr>
          <a:xfrm>
            <a:off x="6400800" y="3657600"/>
            <a:ext cx="2103120" cy="274320"/>
          </a:xfrm>
          <a:prstGeom prst="rect">
            <a:avLst/>
          </a:prstGeom>
          <a:noFill/>
          <a:ln/>
        </p:spPr>
        <p:txBody>
          <a:bodyPr wrap="square" rtlCol="0" anchor="ctr"/>
          <a:lstStyle/>
          <a:p>
            <a:pPr algn="ctr" indent="0" marL="0">
              <a:buNone/>
            </a:pPr>
            <a:r>
              <a:rPr lang="en-US" sz="900" b="1" dirty="0">
                <a:solidFill>
                  <a:srgbClr val="0D9488"/>
                </a:solidFill>
                <a:latin typeface="Calibri" pitchFamily="34" charset="0"/>
                <a:ea typeface="Calibri" pitchFamily="34" charset="-122"/>
                <a:cs typeface="Calibri" pitchFamily="34" charset="-120"/>
              </a:rPr>
              <a:t>Available now</a:t>
            </a:r>
            <a:endParaRPr lang="en-US" sz="900" dirty="0"/>
          </a:p>
        </p:txBody>
      </p:sp>
      <p:sp>
        <p:nvSpPr>
          <p:cNvPr id="25" name="Text 23"/>
          <p:cNvSpPr/>
          <p:nvPr/>
        </p:nvSpPr>
        <p:spPr>
          <a:xfrm>
            <a:off x="640080" y="4297680"/>
            <a:ext cx="7772400" cy="320040"/>
          </a:xfrm>
          <a:prstGeom prst="rect">
            <a:avLst/>
          </a:prstGeom>
          <a:noFill/>
          <a:ln/>
        </p:spPr>
        <p:txBody>
          <a:bodyPr wrap="square" rtlCol="0" anchor="ctr"/>
          <a:lstStyle/>
          <a:p>
            <a:pPr indent="0" marL="0">
              <a:buNone/>
            </a:pPr>
            <a:r>
              <a:rPr lang="en-US" sz="1000" dirty="0">
                <a:solidFill>
                  <a:srgbClr val="475569"/>
                </a:solidFill>
                <a:latin typeface="Calibri" pitchFamily="34" charset="0"/>
                <a:ea typeface="Calibri" pitchFamily="34" charset="-122"/>
                <a:cs typeface="Calibri" pitchFamily="34" charset="-120"/>
              </a:rPr>
              <a:t>Precedents: DevStats (personal project → CNCF infra)  |  OpenSSF Scorecard (methodology first, tool second)</a:t>
            </a:r>
            <a:endParaRPr lang="en-US" sz="1000" dirty="0"/>
          </a:p>
        </p:txBody>
      </p:sp>
      <p:sp>
        <p:nvSpPr>
          <p:cNvPr id="26" name="Shape 24"/>
          <p:cNvSpPr/>
          <p:nvPr/>
        </p:nvSpPr>
        <p:spPr>
          <a:xfrm>
            <a:off x="0" y="4892040"/>
            <a:ext cx="9144000" cy="251460"/>
          </a:xfrm>
          <a:prstGeom prst="rect">
            <a:avLst/>
          </a:prstGeom>
          <a:solidFill>
            <a:srgbClr val="0F2B46"/>
          </a:solidFill>
          <a:ln/>
        </p:spPr>
      </p:sp>
      <p:sp>
        <p:nvSpPr>
          <p:cNvPr id="27" name="Text 25"/>
          <p:cNvSpPr/>
          <p:nvPr/>
        </p:nvSpPr>
        <p:spPr>
          <a:xfrm>
            <a:off x="457200" y="4892040"/>
            <a:ext cx="8229600" cy="25146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CNCF Supply Chain Security Analysis  |  March 2026</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2B46"/>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48640"/>
            <a:ext cx="457200" cy="457200"/>
          </a:xfrm>
          <a:prstGeom prst="rect">
            <a:avLst/>
          </a:prstGeom>
        </p:spPr>
      </p:pic>
      <p:sp>
        <p:nvSpPr>
          <p:cNvPr id="3" name="Text 0"/>
          <p:cNvSpPr/>
          <p:nvPr/>
        </p:nvSpPr>
        <p:spPr>
          <a:xfrm>
            <a:off x="640080" y="1097280"/>
            <a:ext cx="7772400" cy="54864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The Ask</a:t>
            </a:r>
            <a:endParaRPr lang="en-US" sz="3000" dirty="0"/>
          </a:p>
        </p:txBody>
      </p:sp>
      <p:sp>
        <p:nvSpPr>
          <p:cNvPr id="4" name="Shape 1"/>
          <p:cNvSpPr/>
          <p:nvPr/>
        </p:nvSpPr>
        <p:spPr>
          <a:xfrm>
            <a:off x="640080" y="1920240"/>
            <a:ext cx="7863840" cy="914400"/>
          </a:xfrm>
          <a:prstGeom prst="rect">
            <a:avLst/>
          </a:prstGeom>
          <a:solidFill>
            <a:srgbClr val="0D9488">
              <a:alpha val="15000"/>
            </a:srgbClr>
          </a:solidFill>
          <a:ln w="12700">
            <a:solidFill>
              <a:srgbClr val="0D9488"/>
            </a:solidFill>
            <a:prstDash val="solid"/>
          </a:ln>
        </p:spPr>
      </p:sp>
      <p:sp>
        <p:nvSpPr>
          <p:cNvPr id="5" name="Text 2"/>
          <p:cNvSpPr/>
          <p:nvPr/>
        </p:nvSpPr>
        <p:spPr>
          <a:xfrm>
            <a:off x="914400" y="2057400"/>
            <a:ext cx="411480" cy="411480"/>
          </a:xfrm>
          <a:prstGeom prst="rect">
            <a:avLst/>
          </a:prstGeom>
          <a:noFill/>
          <a:ln/>
        </p:spPr>
        <p:txBody>
          <a:bodyPr wrap="square" rtlCol="0" anchor="ctr"/>
          <a:lstStyle/>
          <a:p>
            <a:pPr indent="0" marL="0">
              <a:buNone/>
            </a:pPr>
            <a:r>
              <a:rPr lang="en-US" sz="2000" b="1" dirty="0">
                <a:solidFill>
                  <a:srgbClr val="0D9488"/>
                </a:solidFill>
                <a:latin typeface="Trebuchet MS" pitchFamily="34" charset="0"/>
                <a:ea typeface="Trebuchet MS" pitchFamily="34" charset="-122"/>
                <a:cs typeface="Trebuchet MS" pitchFamily="34" charset="-120"/>
              </a:rPr>
              <a:t>1</a:t>
            </a:r>
            <a:endParaRPr lang="en-US" sz="2000" dirty="0"/>
          </a:p>
        </p:txBody>
      </p:sp>
      <p:sp>
        <p:nvSpPr>
          <p:cNvPr id="6" name="Text 3"/>
          <p:cNvSpPr/>
          <p:nvPr/>
        </p:nvSpPr>
        <p:spPr>
          <a:xfrm>
            <a:off x="1463040" y="1920240"/>
            <a:ext cx="6766560" cy="9144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TAG Security sponsor willing to champion this as a work item</a:t>
            </a:r>
            <a:endParaRPr lang="en-US" sz="1600" dirty="0"/>
          </a:p>
        </p:txBody>
      </p:sp>
      <p:sp>
        <p:nvSpPr>
          <p:cNvPr id="7" name="Shape 4"/>
          <p:cNvSpPr/>
          <p:nvPr/>
        </p:nvSpPr>
        <p:spPr>
          <a:xfrm>
            <a:off x="640080" y="3017520"/>
            <a:ext cx="7863840" cy="914400"/>
          </a:xfrm>
          <a:prstGeom prst="rect">
            <a:avLst/>
          </a:prstGeom>
          <a:solidFill>
            <a:srgbClr val="14B8A6">
              <a:alpha val="15000"/>
            </a:srgbClr>
          </a:solidFill>
          <a:ln w="12700">
            <a:solidFill>
              <a:srgbClr val="14B8A6"/>
            </a:solidFill>
            <a:prstDash val="solid"/>
          </a:ln>
        </p:spPr>
      </p:sp>
      <p:sp>
        <p:nvSpPr>
          <p:cNvPr id="8" name="Text 5"/>
          <p:cNvSpPr/>
          <p:nvPr/>
        </p:nvSpPr>
        <p:spPr>
          <a:xfrm>
            <a:off x="914400" y="3154680"/>
            <a:ext cx="411480" cy="411480"/>
          </a:xfrm>
          <a:prstGeom prst="rect">
            <a:avLst/>
          </a:prstGeom>
          <a:noFill/>
          <a:ln/>
        </p:spPr>
        <p:txBody>
          <a:bodyPr wrap="square" rtlCol="0" anchor="ctr"/>
          <a:lstStyle/>
          <a:p>
            <a:pPr indent="0" marL="0">
              <a:buNone/>
            </a:pPr>
            <a:r>
              <a:rPr lang="en-US" sz="2000" b="1" dirty="0">
                <a:solidFill>
                  <a:srgbClr val="14B8A6"/>
                </a:solidFill>
                <a:latin typeface="Trebuchet MS" pitchFamily="34" charset="0"/>
                <a:ea typeface="Trebuchet MS" pitchFamily="34" charset="-122"/>
                <a:cs typeface="Trebuchet MS" pitchFamily="34" charset="-120"/>
              </a:rPr>
              <a:t>2</a:t>
            </a:r>
            <a:endParaRPr lang="en-US" sz="2000" dirty="0"/>
          </a:p>
        </p:txBody>
      </p:sp>
      <p:sp>
        <p:nvSpPr>
          <p:cNvPr id="9" name="Text 6"/>
          <p:cNvSpPr/>
          <p:nvPr/>
        </p:nvSpPr>
        <p:spPr>
          <a:xfrm>
            <a:off x="1463040" y="3017520"/>
            <a:ext cx="6766560" cy="9144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Signal on scope: full landscape quarterly, or graduated projects only?</a:t>
            </a:r>
            <a:endParaRPr lang="en-US" sz="1600" dirty="0"/>
          </a:p>
        </p:txBody>
      </p:sp>
      <p:sp>
        <p:nvSpPr>
          <p:cNvPr id="10" name="Text 7"/>
          <p:cNvSpPr/>
          <p:nvPr/>
        </p:nvSpPr>
        <p:spPr>
          <a:xfrm>
            <a:off x="640080" y="4206240"/>
            <a:ext cx="777240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We built the measurement capability. We need a home for 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365760"/>
            <a:ext cx="7772400" cy="502920"/>
          </a:xfrm>
          <a:prstGeom prst="rect">
            <a:avLst/>
          </a:prstGeom>
          <a:noFill/>
          <a:ln/>
        </p:spPr>
        <p:txBody>
          <a:bodyPr wrap="square" lIns="0" tIns="0" rIns="0" bIns="0" rtlCol="0" anchor="ctr"/>
          <a:lstStyle/>
          <a:p>
            <a:pPr indent="0" marL="0">
              <a:buNone/>
            </a:pPr>
            <a:r>
              <a:rPr lang="en-US" sz="2400" b="1" dirty="0">
                <a:solidFill>
                  <a:srgbClr val="0F172A"/>
                </a:solidFill>
                <a:latin typeface="Trebuchet MS" pitchFamily="34" charset="0"/>
                <a:ea typeface="Trebuchet MS" pitchFamily="34" charset="-122"/>
                <a:cs typeface="Trebuchet MS" pitchFamily="34" charset="-120"/>
              </a:rPr>
              <a:t>Links &amp; Resources</a:t>
            </a:r>
            <a:endParaRPr lang="en-US" sz="2400" dirty="0"/>
          </a:p>
        </p:txBody>
      </p:sp>
      <p:sp>
        <p:nvSpPr>
          <p:cNvPr id="3" name="Shape 1"/>
          <p:cNvSpPr/>
          <p:nvPr/>
        </p:nvSpPr>
        <p:spPr>
          <a:xfrm>
            <a:off x="822960" y="1207008"/>
            <a:ext cx="109728" cy="109728"/>
          </a:xfrm>
          <a:prstGeom prst="ellipse">
            <a:avLst/>
          </a:prstGeom>
          <a:solidFill>
            <a:srgbClr val="0D9488"/>
          </a:solidFill>
          <a:ln/>
        </p:spPr>
      </p:sp>
      <p:sp>
        <p:nvSpPr>
          <p:cNvPr id="4" name="Text 2"/>
          <p:cNvSpPr/>
          <p:nvPr/>
        </p:nvSpPr>
        <p:spPr>
          <a:xfrm>
            <a:off x="1097280" y="1097280"/>
            <a:ext cx="7315200" cy="2743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Repository</a:t>
            </a:r>
            <a:endParaRPr lang="en-US" sz="1400" dirty="0"/>
          </a:p>
        </p:txBody>
      </p:sp>
      <p:sp>
        <p:nvSpPr>
          <p:cNvPr id="5" name="Text 3"/>
          <p:cNvSpPr/>
          <p:nvPr/>
        </p:nvSpPr>
        <p:spPr>
          <a:xfrm>
            <a:off x="1097280" y="1353312"/>
            <a:ext cx="7315200" cy="228600"/>
          </a:xfrm>
          <a:prstGeom prst="rect">
            <a:avLst/>
          </a:prstGeom>
          <a:noFill/>
          <a:ln/>
        </p:spPr>
        <p:txBody>
          <a:bodyPr wrap="square" rtlCol="0" anchor="ctr"/>
          <a:lstStyle/>
          <a:p>
            <a:pPr indent="0" marL="0">
              <a:buNone/>
            </a:pPr>
            <a:r>
              <a:rPr lang="en-US" sz="1000" dirty="0">
                <a:solidFill>
                  <a:srgbClr val="0D9488"/>
                </a:solidFill>
                <a:latin typeface="Calibri" pitchFamily="34" charset="0"/>
                <a:ea typeface="Calibri" pitchFamily="34" charset="-122"/>
                <a:cs typeface="Calibri" pitchFamily="34" charset="-120"/>
              </a:rPr>
              <a:t>github.com/halcyondude/supply-chain-security-collector</a:t>
            </a:r>
            <a:endParaRPr lang="en-US" sz="1000" dirty="0"/>
          </a:p>
        </p:txBody>
      </p:sp>
      <p:sp>
        <p:nvSpPr>
          <p:cNvPr id="6" name="Shape 4"/>
          <p:cNvSpPr/>
          <p:nvPr/>
        </p:nvSpPr>
        <p:spPr>
          <a:xfrm>
            <a:off x="822960" y="1801368"/>
            <a:ext cx="109728" cy="109728"/>
          </a:xfrm>
          <a:prstGeom prst="ellipse">
            <a:avLst/>
          </a:prstGeom>
          <a:solidFill>
            <a:srgbClr val="0D9488"/>
          </a:solidFill>
          <a:ln/>
        </p:spPr>
      </p:sp>
      <p:sp>
        <p:nvSpPr>
          <p:cNvPr id="7" name="Text 5"/>
          <p:cNvSpPr/>
          <p:nvPr/>
        </p:nvSpPr>
        <p:spPr>
          <a:xfrm>
            <a:off x="1097280" y="1691640"/>
            <a:ext cx="7315200" cy="2743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TOC Issue #1709</a:t>
            </a:r>
            <a:endParaRPr lang="en-US" sz="1400" dirty="0"/>
          </a:p>
        </p:txBody>
      </p:sp>
      <p:sp>
        <p:nvSpPr>
          <p:cNvPr id="8" name="Text 6"/>
          <p:cNvSpPr/>
          <p:nvPr/>
        </p:nvSpPr>
        <p:spPr>
          <a:xfrm>
            <a:off x="1097280" y="1947672"/>
            <a:ext cx="7315200" cy="228600"/>
          </a:xfrm>
          <a:prstGeom prst="rect">
            <a:avLst/>
          </a:prstGeom>
          <a:noFill/>
          <a:ln/>
        </p:spPr>
        <p:txBody>
          <a:bodyPr wrap="square" rtlCol="0" anchor="ctr"/>
          <a:lstStyle/>
          <a:p>
            <a:pPr indent="0" marL="0">
              <a:buNone/>
            </a:pPr>
            <a:r>
              <a:rPr lang="en-US" sz="1000" dirty="0">
                <a:solidFill>
                  <a:srgbClr val="0D9488"/>
                </a:solidFill>
                <a:latin typeface="Calibri" pitchFamily="34" charset="0"/>
                <a:ea typeface="Calibri" pitchFamily="34" charset="-122"/>
                <a:cs typeface="Calibri" pitchFamily="34" charset="-120"/>
              </a:rPr>
              <a:t>github.com/cncf/toc/issues/1709</a:t>
            </a:r>
            <a:endParaRPr lang="en-US" sz="1000" dirty="0"/>
          </a:p>
        </p:txBody>
      </p:sp>
      <p:sp>
        <p:nvSpPr>
          <p:cNvPr id="9" name="Shape 7"/>
          <p:cNvSpPr/>
          <p:nvPr/>
        </p:nvSpPr>
        <p:spPr>
          <a:xfrm>
            <a:off x="822960" y="2395728"/>
            <a:ext cx="109728" cy="109728"/>
          </a:xfrm>
          <a:prstGeom prst="ellipse">
            <a:avLst/>
          </a:prstGeom>
          <a:solidFill>
            <a:srgbClr val="0D9488"/>
          </a:solidFill>
          <a:ln/>
        </p:spPr>
      </p:sp>
      <p:sp>
        <p:nvSpPr>
          <p:cNvPr id="10" name="Text 8"/>
          <p:cNvSpPr/>
          <p:nvPr/>
        </p:nvSpPr>
        <p:spPr>
          <a:xfrm>
            <a:off x="1097280" y="2286000"/>
            <a:ext cx="7315200" cy="2743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TAG Security Supply Chain Best Practices v2</a:t>
            </a:r>
            <a:endParaRPr lang="en-US" sz="1400" dirty="0"/>
          </a:p>
        </p:txBody>
      </p:sp>
      <p:sp>
        <p:nvSpPr>
          <p:cNvPr id="11" name="Text 9"/>
          <p:cNvSpPr/>
          <p:nvPr/>
        </p:nvSpPr>
        <p:spPr>
          <a:xfrm>
            <a:off x="1097280" y="2542032"/>
            <a:ext cx="7315200" cy="228600"/>
          </a:xfrm>
          <a:prstGeom prst="rect">
            <a:avLst/>
          </a:prstGeom>
          <a:noFill/>
          <a:ln/>
        </p:spPr>
        <p:txBody>
          <a:bodyPr wrap="square" rtlCol="0" anchor="ctr"/>
          <a:lstStyle/>
          <a:p>
            <a:pPr indent="0" marL="0">
              <a:buNone/>
            </a:pPr>
            <a:r>
              <a:rPr lang="en-US" sz="1000" dirty="0">
                <a:solidFill>
                  <a:srgbClr val="0D9488"/>
                </a:solidFill>
                <a:latin typeface="Calibri" pitchFamily="34" charset="0"/>
                <a:ea typeface="Calibri" pitchFamily="34" charset="-122"/>
                <a:cs typeface="Calibri" pitchFamily="34" charset="-120"/>
              </a:rPr>
              <a:t>tag-security.cncf.io/blog/software-supply-chain-security-best-practices-v2/</a:t>
            </a:r>
            <a:endParaRPr lang="en-US" sz="1000" dirty="0"/>
          </a:p>
        </p:txBody>
      </p:sp>
      <p:sp>
        <p:nvSpPr>
          <p:cNvPr id="12" name="Shape 10"/>
          <p:cNvSpPr/>
          <p:nvPr/>
        </p:nvSpPr>
        <p:spPr>
          <a:xfrm>
            <a:off x="822960" y="2990088"/>
            <a:ext cx="109728" cy="109728"/>
          </a:xfrm>
          <a:prstGeom prst="ellipse">
            <a:avLst/>
          </a:prstGeom>
          <a:solidFill>
            <a:srgbClr val="0D9488"/>
          </a:solidFill>
          <a:ln/>
        </p:spPr>
      </p:sp>
      <p:sp>
        <p:nvSpPr>
          <p:cNvPr id="13" name="Text 11"/>
          <p:cNvSpPr/>
          <p:nvPr/>
        </p:nvSpPr>
        <p:spPr>
          <a:xfrm>
            <a:off x="1097280" y="2880360"/>
            <a:ext cx="7315200" cy="2743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Full Dataset (Parquet)</a:t>
            </a:r>
            <a:endParaRPr lang="en-US" sz="1400" dirty="0"/>
          </a:p>
        </p:txBody>
      </p:sp>
      <p:sp>
        <p:nvSpPr>
          <p:cNvPr id="14" name="Text 12"/>
          <p:cNvSpPr/>
          <p:nvPr/>
        </p:nvSpPr>
        <p:spPr>
          <a:xfrm>
            <a:off x="1097280" y="3136392"/>
            <a:ext cx="7315200" cy="228600"/>
          </a:xfrm>
          <a:prstGeom prst="rect">
            <a:avLst/>
          </a:prstGeom>
          <a:noFill/>
          <a:ln/>
        </p:spPr>
        <p:txBody>
          <a:bodyPr wrap="square" rtlCol="0" anchor="ctr"/>
          <a:lstStyle/>
          <a:p>
            <a:pPr indent="0" marL="0">
              <a:buNone/>
            </a:pPr>
            <a:r>
              <a:rPr lang="en-US" sz="1000" dirty="0">
                <a:solidFill>
                  <a:srgbClr val="0D9488"/>
                </a:solidFill>
                <a:latin typeface="Calibri" pitchFamily="34" charset="0"/>
                <a:ea typeface="Calibri" pitchFamily="34" charset="-122"/>
                <a:cs typeface="Calibri" pitchFamily="34" charset="-120"/>
              </a:rPr>
              <a:t>Available in repository /output/cncf-full-landscape/</a:t>
            </a:r>
            <a:endParaRPr lang="en-US" sz="1000" dirty="0"/>
          </a:p>
        </p:txBody>
      </p:sp>
      <p:sp>
        <p:nvSpPr>
          <p:cNvPr id="15" name="Shape 13"/>
          <p:cNvSpPr/>
          <p:nvPr/>
        </p:nvSpPr>
        <p:spPr>
          <a:xfrm>
            <a:off x="822960" y="3584448"/>
            <a:ext cx="109728" cy="109728"/>
          </a:xfrm>
          <a:prstGeom prst="ellipse">
            <a:avLst/>
          </a:prstGeom>
          <a:solidFill>
            <a:srgbClr val="0D9488"/>
          </a:solidFill>
          <a:ln/>
        </p:spPr>
      </p:sp>
      <p:sp>
        <p:nvSpPr>
          <p:cNvPr id="16" name="Text 14"/>
          <p:cNvSpPr/>
          <p:nvPr/>
        </p:nvSpPr>
        <p:spPr>
          <a:xfrm>
            <a:off x="1097280" y="3474720"/>
            <a:ext cx="7315200" cy="2743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CLOMonitor</a:t>
            </a:r>
            <a:endParaRPr lang="en-US" sz="1400" dirty="0"/>
          </a:p>
        </p:txBody>
      </p:sp>
      <p:sp>
        <p:nvSpPr>
          <p:cNvPr id="17" name="Text 15"/>
          <p:cNvSpPr/>
          <p:nvPr/>
        </p:nvSpPr>
        <p:spPr>
          <a:xfrm>
            <a:off x="1097280" y="3730752"/>
            <a:ext cx="7315200" cy="228600"/>
          </a:xfrm>
          <a:prstGeom prst="rect">
            <a:avLst/>
          </a:prstGeom>
          <a:noFill/>
          <a:ln/>
        </p:spPr>
        <p:txBody>
          <a:bodyPr wrap="square" rtlCol="0" anchor="ctr"/>
          <a:lstStyle/>
          <a:p>
            <a:pPr indent="0" marL="0">
              <a:buNone/>
            </a:pPr>
            <a:r>
              <a:rPr lang="en-US" sz="1000" dirty="0">
                <a:solidFill>
                  <a:srgbClr val="0D9488"/>
                </a:solidFill>
                <a:latin typeface="Calibri" pitchFamily="34" charset="0"/>
                <a:ea typeface="Calibri" pitchFamily="34" charset="-122"/>
                <a:cs typeface="Calibri" pitchFamily="34" charset="-120"/>
              </a:rPr>
              <a:t>clomonitor.io</a:t>
            </a:r>
            <a:endParaRPr lang="en-US" sz="1000" dirty="0"/>
          </a:p>
        </p:txBody>
      </p:sp>
      <p:sp>
        <p:nvSpPr>
          <p:cNvPr id="18" name="Shape 16"/>
          <p:cNvSpPr/>
          <p:nvPr/>
        </p:nvSpPr>
        <p:spPr>
          <a:xfrm>
            <a:off x="822960" y="4178808"/>
            <a:ext cx="109728" cy="109728"/>
          </a:xfrm>
          <a:prstGeom prst="ellipse">
            <a:avLst/>
          </a:prstGeom>
          <a:solidFill>
            <a:srgbClr val="0D9488"/>
          </a:solidFill>
          <a:ln/>
        </p:spPr>
      </p:sp>
      <p:sp>
        <p:nvSpPr>
          <p:cNvPr id="19" name="Text 17"/>
          <p:cNvSpPr/>
          <p:nvPr/>
        </p:nvSpPr>
        <p:spPr>
          <a:xfrm>
            <a:off x="1097280" y="4069080"/>
            <a:ext cx="7315200" cy="2743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GUAC</a:t>
            </a:r>
            <a:endParaRPr lang="en-US" sz="1400" dirty="0"/>
          </a:p>
        </p:txBody>
      </p:sp>
      <p:sp>
        <p:nvSpPr>
          <p:cNvPr id="20" name="Text 18"/>
          <p:cNvSpPr/>
          <p:nvPr/>
        </p:nvSpPr>
        <p:spPr>
          <a:xfrm>
            <a:off x="1097280" y="4325112"/>
            <a:ext cx="7315200" cy="228600"/>
          </a:xfrm>
          <a:prstGeom prst="rect">
            <a:avLst/>
          </a:prstGeom>
          <a:noFill/>
          <a:ln/>
        </p:spPr>
        <p:txBody>
          <a:bodyPr wrap="square" rtlCol="0" anchor="ctr"/>
          <a:lstStyle/>
          <a:p>
            <a:pPr indent="0" marL="0">
              <a:buNone/>
            </a:pPr>
            <a:r>
              <a:rPr lang="en-US" sz="1000" dirty="0">
                <a:solidFill>
                  <a:srgbClr val="0D9488"/>
                </a:solidFill>
                <a:latin typeface="Calibri" pitchFamily="34" charset="0"/>
                <a:ea typeface="Calibri" pitchFamily="34" charset="-122"/>
                <a:cs typeface="Calibri" pitchFamily="34" charset="-120"/>
              </a:rPr>
              <a:t>guac.sh</a:t>
            </a:r>
            <a:endParaRPr lang="en-US" sz="1000" dirty="0"/>
          </a:p>
        </p:txBody>
      </p:sp>
      <p:sp>
        <p:nvSpPr>
          <p:cNvPr id="21" name="Text 19"/>
          <p:cNvSpPr/>
          <p:nvPr/>
        </p:nvSpPr>
        <p:spPr>
          <a:xfrm>
            <a:off x="640080" y="4572000"/>
            <a:ext cx="7772400" cy="274320"/>
          </a:xfrm>
          <a:prstGeom prst="rect">
            <a:avLst/>
          </a:prstGeom>
          <a:noFill/>
          <a:ln/>
        </p:spPr>
        <p:txBody>
          <a:bodyPr wrap="square"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Matt Young  |  @halcyondude  |  matt@halcyondude.com</a:t>
            </a:r>
            <a:endParaRPr lang="en-US" sz="1100" dirty="0"/>
          </a:p>
        </p:txBody>
      </p:sp>
      <p:sp>
        <p:nvSpPr>
          <p:cNvPr id="22" name="Shape 20"/>
          <p:cNvSpPr/>
          <p:nvPr/>
        </p:nvSpPr>
        <p:spPr>
          <a:xfrm>
            <a:off x="0" y="4892040"/>
            <a:ext cx="9144000" cy="251460"/>
          </a:xfrm>
          <a:prstGeom prst="rect">
            <a:avLst/>
          </a:prstGeom>
          <a:solidFill>
            <a:srgbClr val="0F2B46"/>
          </a:solidFill>
          <a:ln/>
        </p:spPr>
      </p:sp>
      <p:sp>
        <p:nvSpPr>
          <p:cNvPr id="23" name="Text 21"/>
          <p:cNvSpPr/>
          <p:nvPr/>
        </p:nvSpPr>
        <p:spPr>
          <a:xfrm>
            <a:off x="457200" y="4892040"/>
            <a:ext cx="8229600" cy="251460"/>
          </a:xfrm>
          <a:prstGeom prst="rect">
            <a:avLst/>
          </a:prstGeom>
          <a:noFill/>
          <a:ln/>
        </p:spPr>
        <p:txBody>
          <a:bodyPr wrap="square" rtlCol="0" anchor="ctr"/>
          <a:lstStyle/>
          <a:p>
            <a:pPr indent="0" marL="0">
              <a:buNone/>
            </a:pPr>
            <a:r>
              <a:rPr lang="en-US" sz="700" dirty="0">
                <a:solidFill>
                  <a:srgbClr val="64748B"/>
                </a:solidFill>
                <a:latin typeface="Calibri" pitchFamily="34" charset="0"/>
                <a:ea typeface="Calibri" pitchFamily="34" charset="-122"/>
                <a:cs typeface="Calibri" pitchFamily="34" charset="-120"/>
              </a:rPr>
              <a:t>CNCF Supply Chain Security Analysis  |  March 2026</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CNCF Supply Chain Security: What the Data Shows</dc:title>
  <dc:subject>PptxGenJS Presentation</dc:subject>
  <dc:creator>Matt Young</dc:creator>
  <cp:lastModifiedBy>Matt Young</cp:lastModifiedBy>
  <cp:revision>1</cp:revision>
  <dcterms:created xsi:type="dcterms:W3CDTF">2026-03-30T19:13:11Z</dcterms:created>
  <dcterms:modified xsi:type="dcterms:W3CDTF">2026-03-30T19:13:11Z</dcterms:modified>
</cp:coreProperties>
</file>